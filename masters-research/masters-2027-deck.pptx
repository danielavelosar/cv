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</p:sldIdLst>
  <p:notesMasterIdLst>
    <p:notesMasterId r:id="rId19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notesMaster" Target="notesMasters/notesMaster1.xml"/><Relationship Id="rId197" Type="http://schemas.openxmlformats.org/officeDocument/2006/relationships/presProps" Target="presProps.xml"/><Relationship Id="rId198" Type="http://schemas.openxmlformats.org/officeDocument/2006/relationships/viewProps" Target="viewProps.xml"/><Relationship Id="rId199" Type="http://schemas.openxmlformats.org/officeDocument/2006/relationships/theme" Target="theme/theme1.xml"/><Relationship Id="rId2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CONSOLIDÉE · 4 PHASES × 3 LANGUES (FR · EN · ES) · 12 PASSES + 4 ARBITRAGES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Étudier à l’étranger : cartographie des masters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du financement — rentrée 2027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Exécuté le 26 juillet 2026 · cible : rentrée septembre 2027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domaines · ~110 programmes examinés · ~35 dispositifs de financement · 633 sources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: ingénieure des systèmes (Bogotá) — IA/agents · 3D/Blender/mocap · danse/biomécanique · recherche accessibilité des parcs (Kennedy)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9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donnée porte un badge de confiance — aucune décision sans relecture de l’URL source (voir diapositive 2).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lire ce deck — niveaux de confiance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493776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Trouvé dans ≥2 langues avec URL officielle concordante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Utilisable tel quel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seule langue et/ou source secondaire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CONFIRMER sur l’URL avant décision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langues donnent des valeurs différentes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deux valeurs sont affichées — jamais tranché en silence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Introuvable dans les trois 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non trouvé — vérifier sur &lt;URL&gt; ». Jamais d’estimation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11155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méthodologique important : les pages officielles étaient largement bloquées (erreurs 403) pendant la recherche — la plupart des faits proviennent de résumés de moteur de recherche citant des URL officielles. Le deck est donc massivement 🟡.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Presque aucune date du cycle 2027 n’était publiée en juillet 2026 : « proj. » = projection du patron 2026, à re-vérifier dès l’automne 2026.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montant et deadline porte son année de validité. Les témoignages de forums sont étiquetés « anecdotique » et ne portent jamais un 🟢.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D’ENSEMBLE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exécutive — la carte de décision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356616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Alignement (4 priorités)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n°1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principal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/ Interaction humain-machine (dont acce…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— M1+M2 Human-Computer Inte…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L'UX junior générique est saturé et l'IA en automatise le b…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 scientifique et médicale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IMLEX (UEF, KU Leuven, UJM + Toyohashi)…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étroite : 6 programmes trouvés seulement, dont 2 ferm…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(santé, réhabilitation, éduca…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RE_PLAY (Lusófona, LUCA, Aalto) — Erasmu…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jeu vidéo sort de vagues de licenciements 2023-2025 et 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numérique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Cité (+ Arts et Métiers) — Master…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: miser sur le UK (UCL/Imperial) puis re…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computationnelles et BCI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Cité (co-hab. Sorbonne/ENS) — Mast…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: viser EPFL/ETH puis rejet (sélectivité…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/ biologie computationnelle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Claude Bernard Lyon 1 — Master Bio-infor…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majeur : rejet à l'admission pour absenc…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technologie du mouvement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Royal Institute of Technology — MSc Medical Eng…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faible : pas de crise sectorielle, march…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technical direction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Grenoble Alpes + Ensimag — MoSIG — spéc. Comp…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Franchise crise VFX/animation 2024-2026 🟢 : effondrement…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Bournemouth University (NCCA) — MSc Computer Animat…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Franchise crise VFX 2024-2026 🟢 : effondrement Technicol…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/ computationnelle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 (Paris 1, ENS-PSL, EHESS) — Master APE — Analys…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franc 🟢 (3 passes) : plan B intellectuellement sol…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Alignement = moyenne des scores 0-3 sur ses 4 priorités (impact · création visuelle · technique · cerveau/monde), calculée depuis les dossiers de phase. Détail par domaine dans les blocs suivants.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EXÉCUTIVE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recommandations principales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600200"/>
          </a:xfrm>
          <a:prstGeom prst="roundRect">
            <a:avLst>
              <a:gd name="adj" fmla="val 3429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4533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Portefeuille Erasmus Mundus — la seule voie de financement intégral sans condition d’expérience ni de retour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20240"/>
            <a:ext cx="10753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IMLEX (imagerie/XR, semestre au Japon) en tête + EMAI (IA), IMIM (imagerie médicale), SMACCs (smart cities), DEAI, RE_PLAY (jeux) — bourse ≈1 400 €/mois + scolarité + voyage 🟡.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groupées nov. 2026 → mars 2027 (IMLEX ~21 janv. 2027 🟡 proj.) ; candidater à 4-6 consortiums mutualise essais et lettres. Aucun frais de dossier.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1155680" cy="1600200"/>
          </a:xfrm>
          <a:prstGeom prst="roundRect">
            <a:avLst>
              <a:gd name="adj" fmla="val 3429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328269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France publique via bourse Eiffel — le meilleur alignement académique (HCI + visualisation + accessibilité)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3657600"/>
            <a:ext cx="10753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Paris-Saclay HCI (labos AVIZ/ILDA) 🟡, MoSIG Grenoble 🟡, CNN Paris-Saclay (neuro) 🟡 — frais 3 941 €/an 🟡 (2026-27) effacés par le statut boursier Eiffel (~1 200 €/mois 🟡).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 UNIQUEMENT via l’université : deadlines internes oct.–nov. 2026 🟡 (proj.) — le jalon le plus tôt du calendrier. Une seule tentative à vie. Atouts : français + semestre INSA Lyon.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892040"/>
            <a:ext cx="11155680" cy="1600200"/>
          </a:xfrm>
          <a:prstGeom prst="roundRect">
            <a:avLst>
              <a:gd name="adj" fmla="val 3429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502005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Barcelone / Espagne via Fundación Carolina — la fusion maximale du profil au coût le plus bas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5394960"/>
            <a:ext cx="10753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Neuroingeniería y Rehabilitación (Institut Guttmann) ≈9 496 € 🟡 (2025-26) : serious games + réhabilitation + biomécanique + accessibilité en un seul programme. Alternatives : UPF CSIM, URJC, UPM Neurotecnología (au catalogue Carolina 🟡).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Espagne = visa gratuit, travail 30 h/sem 🟡, sans homologation du titre 🟡. Carolina (~12 janv.–2 mars 2027 🟡 proj.) exige de croiser son catalogue dès l’ouverture ; préférence d’expérience 🔴 à vérifier.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HCI / Interaction humain-machine (dont accessibilité)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évaluer des interfaces centrées sur l'humain : tests utilisateurs, prototypage, méthodes de recherche empiriques.  ·  Interaction tangible/multimodale/tactile et VR-AR (jeu, design, simulation, formation) 🟡.  ·  Accessibilité : WCAG, ability-based design, design inclusif — cible naturelle : la conférence ASSETS.  ·  « 80 % d'un labo HCI, c'est construire l'appareil de l'expérience » : coder plateformes d'étude et prototypes.  ·  Sous-champ le plus financé en 2026 : la human-AI interaction (explicabilité, confiance, interaction avec agents).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L'accessibilité (ASSETS, ability-based design) et la recherche des parcs de Kennedy touchent directement des usagers réels.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prototypage d'interfaces et la VR/AR nourrissent le visuel, mais le cœur du champ est la méthode, pas l'esthétique.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l'appareil expérimental est 80 % du travail de labo ; ses agents IA en production y sont le différenciateur n°1.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étudie perception et comportement des utilisateurs, mais au niveau appliqué, pas en profondeur neuroscientifique.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conception centrée utilisateur, évaluation, interaction multimodale, VR/AR 🟡 (pensums détaillés ⚫ pour presque tous les programmes).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utilisateurs : recruter, tester, analyser — et coder soi-même la plateforme de l'expérience.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Stage/projet en labo — ex. LISN à Saclay : équipes AVIZ, EX-SITU, ILDA, VENISE (communes Inria)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et rédaction de papers pour CHI, UIST, ASSETS.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quantitative et spécialiste accessibilité (European Accessibility Act appliqué depuis juin 2025 🟡 à vérifier).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interaction : concevoir et évaluer l'interaction avec des agents IA — le versant le plus demandé.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Prototypage et évaluation d'interfaces en produit ; l'UX générique junior est saturé — viser la spécialité.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et veille : TOCHI, IJHCS, communautés CHI/ASSETS pour le versant recherche.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junior générique saturé ; l'IA générative automatise le bas de gamme (constat concordant FR+EN+ES).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se déplace vers human-AI interaction, accessibilité (EAA depuis juin 2025 🟡 à vérifier) et recherche quantitative.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UX junior France : ~31-42 k€/an 🟡 (2026, sources secondaires).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UX junior Espagne : ~20,7-29 k€/an, confirmés 32-48 k€ 🟡 (2026, sources secondaires).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 — *The Design of Everyday Things* (éd. rév. 2013) : le canon absolu, cité par les 3 passes.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Rogers &amp; Preece — *Interaction Design* (6e éd. ~2023) : le manuel de référence du champ.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Lazar et al. — *Research Methods in HCI* (2e éd. 2017) : les méthodes empiriques du master.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Wobbrock et al. — *Ability-Based Design* (CACM 2018) : directement lié au sujet parcs/accessibilité.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Holmes — *Mismatch* (2018) : design inclusif, très aligné accessibilité.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Fitts — loi de Fitts (1954) : le paper fondateur de la modélisation du geste.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Norman, *The Design of Everyday Things* (4-6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W3C-WAI « Introduction to Web Accessibility » + heuristiques NN/g (4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: audit d'accessibilité + 3-5 tests utilisateurs sur son prototype parcs ou une app publique type TransMilenio (8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le cas + lire 2-3 papers ASSETS sur l'accessibilité urbaine (4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si recruter/tester des utilisateurs énergise plus que le pixel, le domaine est le bon.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(1/3)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— M1+M2 Human-Computer Interaction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🟡 (2026-27) ; exonération si stat…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(Eiffel interne oct.–nov. 2026…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+ IDEX 10 000 €/an sur invitation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UGA / Grenoble INP — MoSIG (pistes UIS = HCI ; GVR = graphique)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🟡 (2026-27) sauf exonération UGA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~15 janv.–30 avr. 2027 🟡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appel interne UGA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UCLouvain — Master [120] en sciences informatiques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~5 010 €/an 🟡 (2025-26)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30 avr. 2027 🟡 (2026 : 30/04)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quasi aucune bourse non-UE 🔴 (ARES Colombie 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EPFL — MSc in Computer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Suisse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4 680 CHF/an 🟡 (triplement automne 2025, sec…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15 déc. 2026 (1er tour) / ~31 mars 2027…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Excellence Fellowship 10 000 CHF/sem. ×4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Montréal (DIRO) — Maîtrise en informatique (recherche/cou…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Québec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 — calculateur officiel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févr. 2027 🟡 (règle annuelle publiée)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exemption UdeM + assistanats du directeur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Twente — MSc Interaction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14 250 €/an 🟡 (année incertaine, secondaire)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~1er avr. 2027 🟡 (patron 2026 non-UE)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Colfuturo ; bourse Twente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Eindhoven — MSc Human-Technology Interaction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févr. 2027 🟡 (cutoff bourse ALSP)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ALSP : 10 complètes (waiver + 7 500 €/an) +…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(2/3)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 University — MSc Human Computer Interaction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25 306 €/an 🟡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(patron NL : févr.–avr.)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 Excellence ⚫ ; Colfuturo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— MSc Interactive Media Technology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 360 000 total programme 🟡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janv. 2027 🟡 (portail ouvre ~16 oct.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KTH Scholarship (waiver total) + SI : Colomb…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Bauhaus-Universität Weimar — MSc Human-Computer Interaction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scolarité — ~277 €/semestre 🟡 (second…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juil. 2027 🟡 (non-UE, WS 2027/28 — pages…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auto-financement bon marché + Colfuturo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 — MSc Human-Computer Interaction (UCLIC)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£42 700/an vs £37 500/an (sources en confl…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ouverture ~oct. 2026, fenêtre ~févr. 2027 🟡…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 (candidature août–oct./nov.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Georgia Tech — MS-HCI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vérifiés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févr. 2027 🟡 (Fall, official-via-search)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garanti 🔴 + Fulbright 2027 clos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of Washington — MS HCDE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(programme « fee-based », pas de waiver TA/…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mi-janv. 2027 🟡 (patron 2026 : 14 janv.)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pour internationaux 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KAIST (GSCT) — MS in Culture Technology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couverts : scolarité + ~400 000 KRW/mois 🟡 (…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2027 : early ~déc. 2026, regular ~mars 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KAIST automatique ou GKS-G (~févr. 20…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(3/3)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HKUST (Guangzhou) — MPhil Computational Media and Arts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 (diplôm…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studentship complet jusqu'à 2 ans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 au fil de l'eau — candidater tôt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Postgraduate Studentship intégral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of Tsukuba — Master's Program in Informatics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(voie MEXT université : ~nov. 2026–janv. 20…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MEXT recommandation universitaire (ambassade…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 — MU Sistemas Cognitivos y Medios Interactivos (CSIM)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non-UE ⚫ (UE ≈ 1 162 €/60 ECTS 🟡, 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rondes publiées au 1er trim. 2026-27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ayudas internes CSIM + Carolina (catalogue 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UPM + EIT Digital — Master HCID (double diplôme, 2 pays)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 + 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18 000 €/an non-UE 🟡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~nov. 2026–avr. 2027 🟡 (non-UE : 2 premiers…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EIT combinables « jusqu'à complète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UAM — MU Sistemas Interactivos Inteligentes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~5 044 €/60 ECTS 🟡 (Decreto 43/2022 — à véri…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(plazos ~printemps)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UIB (Baléares) — MU Sistemas Inteligentes — itinéraire 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SvelteKit/FastAPI/MongoDB → prototypage de plateformes d'étude : « 80 % d'un labo HCI, c'est construire l'appareil de l'expérience ».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multi-systèmes en production = différenciateur n°1 en 2026 : quasi aucun candidat HCI n'en a (constat FR/EN/ES).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recherche des parcs de Kennedy est déjà un projet HCI/accessibilité de terrain, publiable (ASSETS student track, CHI LBW ~janvier).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clé avant janv. 2027 : carte web interactive d'accessibilité + étude utilisateur de 5-8 participants — pièce maîtresse de TOUS les dossiers.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: évaluer et améliorer l'accessibilité des espaces publics — du parc réel (Kennedy) au jumeau virtuel accessible.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1/10 —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L'UX junior générique est saturé et l'IA en automatise le bas de gamme : un master trop « design » sans spécialité la renvoie dans la masse des candidats.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junior modestes : France ~31-42 k€ 🟡, Espagne ~20,7-29 k€ 🟡 (2026) — régression possible par rapport à un poste d'ingénieure IA.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recruter et tester des humains ne l'énergise pas (le test des 20 h), le cœur du métier devient une corvée quotidienne.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Presque toutes les données de financement sont 🟡/⚫ : miser sur Eiffel/IDEX sans confirmation peut la laisser admise mais sans argent.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scientifique et médicale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des données scientifiques et médicales en représentations visuelles interactives (D3, Observable, VTK, 3D Slicer).  ·  Versant médical : anatomie 3D, imagerie, rendu temps réel, XR (Preim &amp; Botha ; Real-Time Rendering).  ·  Fondements : perception visuelle (Ware), analyse et design des vues (Munzner), intégrité graphique (Tufte).  ·  Communautés : IEEE VIS, EuroVis, SIGGRAPH ; revue IEEE TVCG ; équipe phare à suivre : AVIZ (Inria Saclay).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 —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passe par les cliniciens et décideurs qui lisent les visualisations — réel mais plus indirect que le terrain HCI.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domaine où Blender, le rendu 3D et le design visuel sont le métier lui-même.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temps réel, pipelines d'imagerie, photonique et XR (IMLEX) : le versant le plus exigeant techniquement du dossier.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visuelle et mise en image de la science et de la médecine : rendre le monde intelligible est l'objet même du champ.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 —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rendu, perception et visualisation d'information ; pensums détaillés ⚫ pour la quasi-totalité des programmes.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pratiques : notebooks D3/Observable, outils médicaux (3D Slicer/VTK), modèles anatomiques Blender.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IMLEX : imagerie, photonique, XR, avec mobilité FI → BE → FR + semestre au Japon (Toyohashi)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best papers IEEE VIS/EuroVis et de IEEE TVCG.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de visualisation de données (web, D3) pour la science, la santé, l'urbain.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médicale : modèles et animations 3D anatomiques, outils pédagogiques et chirurgicaux, XR.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quantitative et dataviz — le versant vers lequel la demande se déplace (synthèse qualitative du dossier).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Versant recherche : publier à IEEE VIS/EuroVis, rejoindre des équipes type AVIZ (Inria Saclay).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chiffre salarial spécifique visu sourcé dans le dossier ⚫ — la passe EN a volontairement refusé tout chiffre non sourçable.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générale se déplace vers la recherche quantitative, l'accessibilité et la human-AI interaction (synthèse FR+EN+ES).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coût : TU Wien à ~726,72 €/semestre 🟡 (2025-26) = meilleur rapport frais/qualité du domaine.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 —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Munzner — *Visualization Analysis &amp; Design* (2014) : la grammaire du champ, concordance 3 passes.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Tufte — *The Visual Display of Quantitative Information* (1983/2001) : l'intégrité graphique.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 — *Fundamentals of Data Visualization* (2019, gratuit en ligne) : porte d'entrée pratique.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Preim &amp; Botha — *Visual Computing for Medicine* (2e éd. 2013) : LE versant médical, avancé.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 — *Information Visualization: Perception for Design* (4e éd. 2021) : la perception.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Bostock et al. — « D3 » (IEEE TVCG 2011) : le paper de l'outil dominant du web.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Wilke, *Fundamentals of Data Visualization* en ligne (5-6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Refaire des notebooks D3/Observable puis visualiser SES données des parcs de Kennedy — carte interactive = livrable-test (8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Munzner ch. 1-3 (4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papers IEEE VIS récents sur l'urbain/la santé (3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médicale : remplacer 6 h par un modèle/animation anatomique Blender (ex. mécanique du genou).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 —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IMLEX (UEF, KU Leuven, UJM + Toyohashi) — Erasmus Mundus MSc…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FI/BE/FR + JP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couverts par bourse EM (mieux classés) 🟡 ; h…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réouverture déc. 2026, ~mi/fin janv. 2027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(scolarité + allocation +…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Wien — MSc Visual Computing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Autriche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726,72 €/semestre 🟡 (≈ 2 900 € le diplôme, 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~juil.–oct. 2027 🟡 (WS 2026/27 : 06/07…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si bas que Colfuturo suffit ; OeAD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OvG Univ. Magdeburg — MSc Medical Systems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semestriels publics uniquement 🟡 (mont…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allemande ; alerte prérequis ECTS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Glasgow School of Art + Univ. of Glasgow — MSc Medical Visualisation &amp;…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frais internationaux non trouvés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2027/28 non publié (patron UK : oct. 2026–p…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Chevening-éligible (choix rare, peu concurre…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UIC Chicago — MS Biomedical Visualization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🔴 ; portfolio dessin académique + GRE ex…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URJC — MU Informática Gráfica, Juegos y Realidad Virtual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~5 044 €/60 ECTS 🟡 (precios Madrid — à vérif…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(admission URJC ~févr.–juil.)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 ; en espagno…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 —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Blender/3D + data science + passage direct de Svelte à D3/Observable : la stack est déjà là.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« mouvement » : pipeline Rokoko → Blender → visualisation web des amplitudes articulaires.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interactive d'accessibilité des parcs de Kennedy = livrable-test du parcours 20 h ET pièce de portfolio visu urbaine.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Déclinaison mémoire : visualisation de données urbaines d'accessibilité (HKUST-GZ CMA, TU Wien) ou carto multi-échelle.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CS + Blender + maths = exactement la cible d'IMLEX (imagerie, photonique, XR).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2/10 —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étroite : 6 programmes trouvés seulement, dont 2 fermés d'avance (UIC : portfolio dessin + GRE ; Magdeburg : ~30 ECTS bio/élec manquants 🟡).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salaire ni volume d'emploi sourcé ⚫ : elle s'engagerait dans un marché dont le dossier n'a pas pu mesurer la taille.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repose sur IMLEX : sans la bourse EM, le repli est l'auto-financement (TU Wien) pour un diplôme pointu sans écosystème d'embauche démontré.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Glasgow dépend entièrement de Chevening, dont les dates 2027/28 sont ⚫ et l'exigence est ~2 ans (2 800 h) d'expérience.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Serious games (santé, réhabilitation, éducation)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des jeux dont le but premier n'est pas le divertissement : santé, réhabilitation, formation, éducation.  ·  Prototypage sur moteurs (Godot/Unity/WebGL), mocap et estimation de pose (MediaPipe) pour les exergames.  ·  Évaluer l'efficacité clinique/pédagogique — le point faible chronique du champ, donc une porte d'entrée recherche.  ·  Foyer académique : CHI PLAY (le pont vers HCI), JMIR Serious Games, Games for Health, FDG, DiGRA.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exergames de réhabilitation testés avec des patients (axe UPC–Institut Guttmann) agissent directement sur la santé de personnes réelles.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design, art, 3D et mocap : la création (Schell, Rules of Play) est au centre du quotidien.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Moteurs, mocap et estimation de pose sont techniques, mais beaucoup de programmes (dont RE_PLAY) sont design/culture plutôt qu'ingénierie 🟡.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Motricité, équilibre et apprentissage : la biomécanique du mouvement y est un objet d'étude appliqué.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prototypage itératif de jeux ; game jams (Global Game Jam en janvier).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RE_PLAY : S1 Lusófona Lisbonne → S2 LUCA (arts) → S3 Aalto, thèse S4 🟡 — mais MA orienté design/culture, pas ingénierie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d'efficacité avec utilisateurs/patients (exergames, réhabilitation) et post-mortems façon CHI PLAY.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JMIR Serious Games et Games for Health Journal.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Studios et labos serious games santé/formation : créneau plus petit mais plus stable que le jeu grand public.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vidéo grand public : encore marqué par les vagues de licenciements 2023-2025.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hybrides : conception d'exergames, développement, évaluation d'efficacité en contexte clinique/éducatif.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la plus sûre selon le dossier : spécialisation d'un master HCI plutôt qu'identité unique (convergence FR+EN).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vidéo grand public reste marqué par les vagues de licenciements 2023-2025.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créneau serious games santé/formation est plus petit mais plus stable.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chiffre salarial serious games sourcé dans le dossier ⚫.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marché : le seul master européen nommé « Serious Games » (Skövde SEGMA) est remplacé dès l'automne 2026 (contenu ⚫).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&amp; Zimmerman — *Rules of Play* (2003/2004) : la théorie fondatrice du game design.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Schell — *The Art of Game Design* (3e éd. 2019) : les « lentilles », l'outil de travail quotidien.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Dörner et al. (éds.) — *Serious Games: Foundations, Concepts and Practice* (2016) : LE manuel académique du champ.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&amp; Chen — *Serious Games: Games That Educate, Train, and Inform* (2005/2006) : texte fondateur, daté.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McGonigal — *Reality Is Broken* (2011) : le plaidoyer grand public du jeu utile.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Schell, lentilles ch. 1-10 (4-5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3-4 articles JMIR Serious Games sur les exergames de réhabilitation (2-3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Prototyper un micro-jeu de réhabilitation/équilibre piloté par mocap Rokoko ou pose webcam MediaPipe (Godot/Unity/WebGL), testé avec 3-5 personnes (10-12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façon CHI PLAY (2 h)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le plus discriminant des trois : si le prototypage est une corvée, rester sur HCI/visualisation.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(1/2)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RE_PLAY (Lusófona, LUCA, Aalto) — Erasmus Mundus MA in GAMES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PT/BE/FI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couverts par bourse EM (mieux classés)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oct. 2026–mi-janv. 2027 🟡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24 mois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CNAM-ENJMIN — Master JMIN (spécialités dont ergonomie/UX)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(a priori droits nationaux 3 941 €/an 🟡, 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dépôt concours ~fin janv. 2027 🟡 (2026…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Eiffel théorique ⚫ pratique ; Colfuturo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INU Champollion (Albi) — Master AMINJ parcours GAME (serious/learning g…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 University — MSc Game and Media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25 306 €/an 🟡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(patron NL ~1 févr.–1 avr.)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Colfuturo seulement — pas de bourse interne…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University of Copenhagen — MSc Games (Design/Technology)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montant non trouvé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~1er mars vs 15 mars 2027 (sources en conf…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Danish State Scholarship : 3-4/an, automatique…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Köln — Cologne Game Lab — MA Digital Games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~265 €/sem. vs 2 500 €/sem. non-UE (confli…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mars 2027 🟡 (WS, official-via-search)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gratuité/frais bas si la 1re source est vraie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Aalto University — Game Design and Development (MSc/MA)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~15 000 €/an 🟡 (standard Aalto, non vérifié…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déc. 2026 – 5 janv. 2027 🟡 (cycle 2027 con…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Aalto Cat. A 100 % / Finland Scholarship (wa…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(2/2)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of Skövde — SEGMA → successeur « Game Development »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 : ~12 421 € 🟡 (secondaire)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janv. 2027 🟡 (portail suédois)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(Colombie éligible) ; contenu du successeur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 (ETSEIB + Institut Guttmann) — MU Neuroingeniería y Rehabilitación…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≈9 496 € non-UE 🟡 (fiche 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ETSEIB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Universidade da Coruña — MU Diseño, Desarrollo y Comercialización de Vi…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(Galice = région bon marché)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prácticas conventionné…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UGR (Granada) — MU Desarrollo del Software (UE « Videojuegos para la So…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~1 800 €/60 ECTS 🟡 (le moins cher trouvé)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coût quasi nul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mocap Rokoko est exactement l'outil des labos de réhabilitation motrice ; elle permet une « vertical slice » de jeu en solo.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Danse + biomécanique = littératie du mouvement humain : avantage rare en jeux de réhab et interaction incarnée, vocabulaire clinique crédible.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→ évaluation d'efficacité des serious games, le point faible chronique du champ = porte d'entrée recherche.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clé : micro-exergame équilibre/mobilité (MediaPipe ou Rokoko ; Godot/Unity/WebGL) testé avec 3-5 personnes.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: exergame de réhabilitation calibré par biomécanique ou jeu géolocalisé d'audit participatif (UPC-Guttmann, Utrecht GMT, ITU, Aalto, KAIST).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CHAMPS-PONTS — DOMAINE 3/10 —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vidéo sort de vagues de licenciements 2023-2025 et le créneau serious games est petit : en faire une identité unique est le pari le plus fragile du dossier.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seul master européen nommé « Serious Games » (Skövde SEGMA) disparaît dès l'automne 2026 — un signal de marché, pas un détail administratif.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RE_PLAY, la seule voie pleinement financée, est un MA design/culture, pas ingénierie 🟡 : risque de sous-employer deux ans son profil technique.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10-12 h de prototypage du test s'avèrent une corvée, le dossier lui-même conclut : rester sur HCI/visualisation.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en médecine et santé numérique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l'IA/ML aux données cliniques, de population et d'imagerie médicale.  ·  Masters conçus pour profils quantitatifs ; aucun n'exige de diplôme médical.  ·  Cœur : épidémiologie, statistiques, ML, déploiement (MLOps santé), équité, réglementation.  ·  Le plus accessible pour une ingénieure des systèmes sans background bio/médical.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publique = données de population ; angle handicap/accessibilité des parcs de Kennedy naturel.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clinicien/patient orientée accessibilité + dataviz, mais peu de 3D/mocap.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MLOps, pipelines robustes FastAPI/MongoDB, industrialisation rare chez les cliniciens.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et monde réel, mais pas de lien direct au cerveau.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d'épidémiologie, biostatistiques, ML clinique, informatique de santé.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de cas réelles (ex. Bordeaux Population Health) et projets sur cohortes.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 2-6 mois en labo ou structure de santé.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niveau bio/médicale légère selon dossier et parcours.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/ ingénieur ML en santé, hôpital, medtech ou pharma.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déployer des modèles de prédiction de risque et d'aide à la décision.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sous contraintes RGPD santé, marquage CE, IA Act.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 avec cliniciens, épidémiologistes, équipes produit.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soutenue en IA/data santé (medtech, pharma, hôpitaux) 🟡 (réf. 2026).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Rareté des profils sachant industrialiser les modèles → avantage différenciant.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grilles salariales à panda-int.com / npj Digital Medicine (secondaire).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Medicine — Topol (2019, accessible).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Healthcare — Bohr &amp; Memarzadeh (2020).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Healthcare — MIT 6.S897 / HST.956 (avancé).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Prediction Models — Steyerberg (2019).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Informatics — Shortliffe &amp; Cimino (2021).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Nature Medicine, The Lancet Digital Health, npj Digital Medicine ; conf. CHIL, MLHC, MICCAI.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h : Topol / « AI for Medicine » (DeepLearning.AI) en intro.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h : MIT 6.S897 lectures 1-5 (OCW).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h : reproduire un notebook de prédiction de risque sur MIMIC/eICU servi en FastAPI.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h : 3 papers npj Digital Medicine (déploiement + équité) + éthique/RGPD + IA Act.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(1/2)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Cité (+ Arts et Métiers) — Master Ingénierie de la san…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droits différenciés nat. ~3 770–3 941 €/an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Mon Master ~févr.–mars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 ; chaire IA en Santé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Paris — Master Digital Skills for Health Transformation (DS4Health)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montant PDF officiel non extrait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(procédure IP Paris)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IP Paris ; Eiffel via établissement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Bordeaux — ISPED — M2 Public Health Data Science (Digital…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~3 941 €/an (réf. 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programme DPH ; Eiffel via établisse…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 — MSc Health Data Science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£32 100/an (réf. ~2025-26)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(au fil de l'eau)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 (si expérience) ; bourses internes…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Imperial College London — MSc Health Data Analytics and Machine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£45 000/an (réf. ~2025-26)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 (si expérience) ; internes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MAIA (uB Dijon / Cassino / Gérone) — EMJM Medical Imaging an…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FR/IT/ES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~4 500 €/an (couvert par bourse EM)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rentrée 2027 probablement inexistante (bie…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1 400 €/mois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EMMaH — EMJM Medical technology and Healthcare business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FR/PT/DE (+Ta…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couvert par bourse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édition sept. 2026 confirmée ; cohorte 2027…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1 400 €/mois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(2/2)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EMJM Imaging (Tampere +) — EMJM Imaging (traitement d'images…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 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couvert par bourse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extraite (403)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NUS — MSc Biomedical Informatics (piste Analytics)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SGD 68 538/an (réf. ~2025-26)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~oct. 2026–janv.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peu de bourses → point faible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catalan (URV+UPC+UB+UAB+UGA) — Master interuniversitaire Hea…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recargo catalan (~102,52 €/crédit UPC)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(via URV)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; réseau BIB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UNIA (US+UGR) — Máster en IA aplicada a Ciencias de la Salud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andalou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préinscription 8–15 sept. 2026 (pour 2026-…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FastAPI + MongoDB + multi-agents en production = capacité à déployer, rare chez les profils cliniques.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micro-service FastAPI servant un modèle de prédiction de risque sur MIMIC-IV.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UI SvelteKit clinicien/patient orientée accessibilité.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★ : « Santé numérique et handicap » — outil d'évaluation d'accessibilité urbaine (parcs de Kennedy, Bogotá).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4/10 —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regret : miser sur le UK (UCL/Imperial) puis rester bloquée sur Chevening faute des 2 800 h.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borderline : CS non listé aux prérequis → rejet possible malgré un dossier fort.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différenciés France en hausse + exonérations plafonnées à 30 % → ne plus compter sur l'exonération auto.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accessibilité solide mais dépend d'un labo qui accepte ce sujet de mémoire.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Neurosciences computationnelles et BCI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mathématique du fonctionnement neuronal et des interfaces cerveau-machine.  ·  L'informatique est explicitement une voie d'entrée à NCIA, CNN, BCCN, UPC, UGR.  ·  Cœur : traitement du signal, ML, dynamique neuronale, décodage EEG, neuro-ingénierie.  ·  Très accessible côté computationnel ; certains programmes sélectifs (EPFL, ETH).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Réhabilitation et accessibilité motrice ; impact réel via neuro-ingénierie du mouvement.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Mocap Rokoko + Blender = capture/animation du mouvement humain, rare chez les comp-neuro.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du signal, ML, décodeur EEG, contrôle moteur : techniques de pointe.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du domaine : cerveau + mouvement + monde réel = alignement maximal.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neuro comp (dynamique neuronale, codage), ML, traitement du signal.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d'interfaces cerveau-machine (BCI) et compensation des dysfonctions cérébrales.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encadré + stage recherche de 5-6 mois en labo.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niveau neuro possible selon la voie d'entrée (ex. Radboud).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neuro / BCI en labo, medtech, réhabilitation ou recherche.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Décoder des signaux (EEG/EMG) et concevoir des modèles de contrôle moteur.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Coupler capture de mouvement et modèles de contrôle pour la rééducation.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Publier, collaborer avec neuroscientifiques et cliniciens.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recherche + medtech BCI ; débouché data science le plus employable via DATCOM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rare : traitement du signal + ML + biomécanique du mouvement (danse).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académique surtout ; industrie BCI émergente (secondaire).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Neuroscience — Dayan &amp; Abbott (2001, la référence, avancé).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Neuronal Dynamics — Gerstner et al. (2014, gratuit, neuronaldynamics.epfl.ch).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Neural Science — Kandel et al. (socle bio).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— Sutton &amp; Barto (gratuit, lien RL↔cerveau).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Revues/conf. : Cosyne, NeurIPS, Bernstein Conference, IEEE EMBS/NER, CNS.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Neuromatch Academy (école d'été gratuite) ; Computational Neuroscience (UW/Coursera).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 : tutoriels Neuromatch (systèmes linéaires + modèles à spikes).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: Neuronal Dynamics ch. 1-7.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: implémenter un neurone intègre-et-tire + un décodeur EEG simple (BCI Competition).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par 2 papers Cosyne/BCI.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Cité (co-hab. Sorbonne/ENS) — Master Sciences cognitiv…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droits différenciés nat. (à confirmer)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(cog-sup.fr / Mon Master)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 ; bourses PSL/ENS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— M2 Computational Neurosciences and Neuroengin…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0–500 € vs droits diff. — divergence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IDEX / Graduate School Neurosciences ; Eiffel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EPFL — Master in Neuro-X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Suisse (Lausa…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780 CHF/sem vs ~4 480 CHF/an — divergence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déc.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EPFL Excellence Fellowships (pas d'Eiffel)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 Zurich + UZH — MSc Neural Systems and Computation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Suisse (Zuric…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~CHF 1 500/sem (secondaire)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déc. 2026 / 15 avr.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ETH/UZH + Swiss Gov. Excellence (élig. Colombie…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BCCN Berlin (TU/HU/Charité) — MSc Computational Neuroscience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 (~250–350 €/sem)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mars 2027 (patron 15 mars)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+ DAAD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Tübingen (BCCN) — MSc Neural Information Processing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 (public)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~31 mars 2027 (patron 31 mars)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+ DAAD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Edinburgh — MScR Informatics ANC (ML/Comp Neuro/Comp Bio)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typiquement £30k+ (non extrait)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 (si expérience) ; bourses Édimbourg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Radboud University (Donders) — Research Master Cognitive Neuroscience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~€19 714 (chiffre AI, CN non confirmé)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~31 janv. 2027 (bourse) / ~1 avr.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Radboud Scholarship / NL-Holland (partielles)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Politécnica de Madrid — Máster en Neurotecnología (MUNEUROT…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UPM non trouvé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au catalogue Fundación Carolina (fiches 6374…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 (ETSEIB, Barcelone) — University Master's in Neuroengineering and R…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~102,52 €/crédit non-UE ⇒ ~12 000 € les 12…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Universitat Pompeu Fabra — Master in Brain and Cognition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tasas UPF non-UE non trouvées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ayudas internes ; Carolina (catalogue 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de Granada (ETSIIT) — Máster DATCOM — UE Neuro Comp &amp; Neuro…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andalou (bas) non trouvé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(préinscription DUA ~juin–juil.)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bas ; Carolina (catalogue 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du signal + ML + biomécanique du mouvement (danse) = profil idéal neuro-ingénierie du mouvement.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Atout unique : capture de mouvement Rokoko + Blender, rare chez les comp-neuro.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décodeur EEG open-source ; mocap couplée à un modèle de contrôle moteur.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★ : « Neuro &amp; mouvement / accessibilité motrice » — contrôle moteur pour la réhabilitation, cas d'étude genou légitime.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5/10 —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regret : viser EPFL/ETH puis rejet (sélectivité) ou coût de vie suisse insoutenable sans bourse.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Paris-Saclay CNN : frais 0–500 € possiblement une erreur → confirmer, ne pas s'y fier.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Radboud : entrée par voie IA avec mise à niveau neuro qui rallonge le cursus.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parfait sur le fond mais financement espagnol non structurel (dépend de Carolina).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Bioinformatique / biologie computationnelle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Algorithmique et data engineering appliqués aux données biologiques (génomique, omiques).  ·  Le domaine où le pur skill CS (algo, gros volumes, pipelines) est le plus valorisé.  ·  Le plus employable MAIS le plus risqué à l'admission (crédits bio, exclusion ingénierie).  ·  Barrières basses : UPF, UAM, FU Berlin, Lyon, UdeM, voie EMJM.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Génomique de santé publique pour populations mal desservies ; angle accessibilité moins direct.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3D de structures moléculaires avec Blender, rare et différenciant.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Algorithmique, pipelines reproductibles, data engineering : skill CS immédiatement valorisé.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Biologie moléculaire et santé, mais pas de lien au cerveau.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d'algorithmique bioinfo (alignement, HMM, assemblage), stats, génomique.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niveau biologie (la principale marche à franchir).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reproductibles Nextflow/Snakemake sur données publiques.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/ stage en labo de génomique ou bio computationnelle.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Bioinformaticien / data engineer en pharma, biotech, recherche, hôpital.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des pipelines d'analyse omique et des services d'analyse.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 et maintenir des outils open-source bioinfo.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 avec biologistes et cliniciens.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le plus employable des trois ; forte demande data engineering bioinfo 🟡 (réf. 2026).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skill CS (pipelines, algo) est immédiatement valorisé face à des cohortes de biologistes.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tendances 2026 sur adbioinformatics.com / biotechnologyjobs.co.uk (secondaire).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Sequence Analysis — Durbin, Eddy, Krogh &amp; Mitchison (1998, HMM/alignement).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Algorithms — Compeau &amp; Pevzner (algorithmique, jumelé à Rosalind).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and Functional Genomics — Pevsner.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Bioinformatics — Zvelebil &amp; Baum.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Revues/conf. : Bioinformatics (Oxford), Nature Methods, Genome Biology ; ISMB, RECOMB, ECCB.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Bioinformatics Specialization (UC San Diego) ; Rosalind ; EMBL-EBI training.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h : Rosalind (20 premiers problèmes : alignement, assemblage) en Python.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: chapitres HMM de Durbin / UCSD semaines 1-3.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h : pipeline reproductible Nextflow/Snakemake sur NCBI/Ensembl (Biopython).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par 2 papers single-cell de Genome Biology.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(1/2)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Claude Bernard Lyon 1 — Master Bio-informatique (Bioinfo@Lyo…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droits différenciés nat. (à confirmer)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Mon Master ~févr.–mars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Bordeaux — Master Bioinformatics (track « Bioinformatics…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droits différenciés nat. (à confirmer)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(Mon Master pour M1)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libre de Bruxelles — Master en bioinformatique et modélisati…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~5 369 €/an (2026-27) + 200 € dossier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~fin avril 2027 (hors-UE)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ARES (élig. Colombie ⚫) ; pas d'Eiffel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Montréal — Maîtrise en bio-informatique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(Québe…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exemption auto : Niv. A 13 340,40 $CA/an,…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dépôts intl ~févr.–mars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d'exemption automatique ; PGWP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Tübingen — MSc Bioinformatics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~1 500 €/sem non-UE (Bade-Wurtemberg)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mai/15 juil.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ingénierie explicitement NON éligible → risq…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Freie Universität Berlin — MSc Bioinformatics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 (public)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+ DAAD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— MSc Molecular Biotechnology and Bioinformatics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~SEK 310 000 total (~€27–28k)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16 oct. 2026–~15 janv.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KTH Scholarship + SISGP (attend souvent expé…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(2/2)</a:t>
            </a:r>
            <a:endParaRPr lang="en-US" sz="3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Copenhagen — MSc Bioinformatics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non-UE (~DKK 100 000+/an)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candidatures dès 15 nov.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financement faible (point faible Danemark)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Wageningen University &amp; Research — MSc Bioinformatics and Systems Biolo…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~€20k+/an (à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 avr. 2027 (plus tôt pour bourses)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NL/Holland Scholarship ; WUR fellowships (pa…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QuBiD — EMJM Quantitative Biodiversity (bioinfo + IA)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(6 pays)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couvert par bourse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nouveau programme, 1re cohorte incertaine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1 400 €/mois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BIOPHAM — EMJM (découverte de médicaments / bioinfo, 2026-20…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couvert par bourse 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50 bourses complètes (cohorte à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Universitat Pompeu Fabra + UB — Master in Bioinformatics for Health Sci…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~5 750 €/an (terceros, réf. 2024-25)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(préinscription ~nov./janv.)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; Colfuturo ; ICETEX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Autónoma de Madrid — Máster en Bioinformática y Biología Co…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Madrid non trouvé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« Tecnológico » admis ; Carolina (catalo…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domaine où le pur skill CS (algo, gros volumes, pipelines reproductibles) est le plus immédiatement valorisé.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Rosalind + pipeline génomique Nextflow/Snakemake publié en service FastAPI.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visualisation 3D de structures moléculaires avec Blender (rare et différenciant).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Contribuer à un outil bioinfo open-source = signal de fluidité biologique aux admissions.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: génomique de santé publique pour populations mal desservies / IA pour données de santé en Colombie.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SCIENCE + CODE + IMPACT — DOMAINE 6/10 —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regret majeur : rejet à l'admission pour absence de crédits de biologie.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Tübingen bioinfo : « ingénierie non éligible » 🔴 → candidature perdue si le diplôme est lu comme ingénierie.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KTH/Copenhague attendent des crédits bio ; Copenhague finance faiblement.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ULB : mise à niveau jusqu'à 60 crédits qui rallonge le cursus et alourdit le coût.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Biomécanique et technologie du mouvement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et modélisation du mouvement humain : cinématique, cinétique, EMG, contrôle moteur.  ·  Modélisation musculo-squelettique (OpenSim, AnyBody) à partir de données mocap.  ·  Applications : réhabilitation, ergonomie, exosquelettes, tech médicale, accessibilité.  ·  Voie PRIORITAIRE du dossier : profil ingénieure + data science + mocap = atout, pas reconversion.  ·  Frais publics faibles (France ~3 770 €/an 🟡 ; Aalborg ~7 745 €/an 🟡), aucun portfolio artistique.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Réhabilitation, accessibilité, santé : application directe au terrain (parcs de Kennedy).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création visuelle : dominante data, simulation, mesure.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musculo-squelettique, mocap, simulation, code : très riche techniquement.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moteur, neurophysiologie, corps réel comme objet d'étude.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biomécanique, physiologie, contrôle moteur, data science du mouvement.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 plateformes de force, EMG, systèmes mocap ; dynamique inverse.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musculo-squelettiques (OpenSim/AnyBody) sur données réelles.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recherche en labo (réhab, marche, ergonomie) + stage.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biomécanicien : analyse de mouvement pour clinique, sport ou tech médicale.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exosquelettes / dispositifs d'assistance / orthèses.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data scientist : pipelines mocap → modèle → indicateurs.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académique (contrôle moteur, réhabilitation).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stable voire en croissance (santé, réhab, tech médicale).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~5-6 % 2024-34 (biomedical engineers) 🟡 ; exosquelettes ~40 % CAGR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crise sectorielle contrairement à la VFX ; pas de barrière portfolio.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ingénieure+mocap+danse rare dans les labos réhab/contrôle moteur 🟢.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Winter, Biomechanics and Motor Control of Human Movement (Wiley — le classique, 3 passes 🟢).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Latash &amp; Zatsiorsky, Biomechanics and Motor Control: Defining Central Concepts (2016).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Nigg &amp; Herzog, Biomechanics of the Musculo-skeletal System.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et al., Research Methods in Biomechanics (mocap/EMG/plateformes).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Perry, Gait Analysis ; Nordin &amp; Frankel, Basic Biomechanics of the Musculoskeletal System.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J. of Biomechanics, JNER, IEEE TNSRE, Gait &amp; Posture ; ISB, ISPGR.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OpenSim « Getting Started » + tutoriels Stanford (6 h) : construire une simulation musculo-squelettique.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: chapitres cinématique / cinétique / EMG + dynamique inverse (5-6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Retraiter une prise Rokoko personnelle → inverse kinematics OpenSim/AnyBody (5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papers JNER (marche/réhab) + une session ISB (4 h).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(1/2)</a:t>
            </a:r>
            <a:endParaRPr lang="en-US" sz="3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2011680"/>
                <a:gridCol w="2011680"/>
                <a:gridCol w="1005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Royal Institute of Technology — MSc Medical Engineering — Biomechan…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SEK 360 000 total (~31-33 k€,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~15 janv. 2027 (proj.)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🟢★ KTH Scholarship (exon., sans expérience) ;…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(STAPS) — Master Sciences du mouvement humain —…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https://www.universi…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(Sciences de l'ingénieur)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Nantes Université (STAPS) — Master Human Movement Sciences and Engineer…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https://staps.univ-n…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(Nantes porte les candidatures)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Poitiers (Institut Pprime) — Master Ingénierie de concept…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https://sfa.univ-poi…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Aalborg University (AAU) — MSc Biomechanical Engineering (labo AnyBody)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~DKK 57 850/an (~7 745 €/an, le moins cher)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janv.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AAU/gouv. danois (limitées)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Twente — MSc Biomedical Engineering — spécialisation Bior…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~14 250 €/an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 mai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University Twente Scholarships (3 000–22 000…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Nanterre (STAPS) — Master Sciences du sport &amp; du mouve…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fiche univ-nanterre.…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(2/2)</a:t>
            </a:r>
            <a:endParaRPr lang="en-US" sz="3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2011680"/>
                <a:gridCol w="2011680"/>
                <a:gridCol w="1005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Montréal + Polytechnique — Maîtrise en génie biomédical,…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(Québe…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droits internationaux pleins — fin des nou…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https://admission.um…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du directeur (à trouver AVANT) ; PGWP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Delft — MSc Mechanical Eng. (track BioMechanical Design) / MSc BME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~21 515–25 633 €/an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 avr.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TU Delft Excellence / Holland Scholarship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 Amsterdam — MSc Human Movement Sciences (Research) — Biomechanics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~23 490 €/an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https://vu.nl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VUFP / Amsterdam Excellence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Aix-Marseille Université — Master STAPS — parcours Ingénierie et Ergono…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https://formations.u…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Instituto de Biomecánica de Valencia + UPV — Máster F. Permanente en Va…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3 600 € total (même prix UE/non-UE)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https://master.ibv.o…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título propio → Carolina peu probable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Politécnica de Madrid (INEF) — Máster U. en Ciencias de la…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tasa non-UE non trouvée — vérifier https://…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(Helios UPM)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officiel → Carolina/Colfuturo/ICETEX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labos réhab/contrôle moteur tournent sur mocap → modélisation musculo-squelettique → pipelines de données : elle a déjà la moitié mocap (Rokoko) et code l'autre moitié.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ingénieur logiciel qui comprend de l'intérieur la biomécanique de la danse ET pipeline ses propres données de mouvement est rare 🟢.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contrainte de genoux devient un atout intellectuel : le corps passe d'objet de performance à objet d'étude.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unificateur : mocap markerless/IMU + simulation pour l'évaluation d'accessibilité (parcs de Kennedy, Bogotá) — finançable en health-tech.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Cibles-mémoire idéales : AAU (AnyBody), Paris-Saclay IDSMH, Poitiers (réhab), Nanterre (contrôle moteur).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7/10 —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regret faible : pas de crise sectorielle, marché stable/en croissance, profil différencié.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réel = financement : hors France/KTH, frais élevés (Pays-Bas ~14-25 k€/an) sans bourse garantie.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d'éligibilité : certains programmes filtrent les profils non-mécanique/life-sciences (TU Delft, VU Amsterdam) → argumenter le croisement.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deadline 2027 publiée en juillet 2026 : agir tôt (Eiffel interne ~nov.-déc. 2026).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 3D orientée technical direction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Director (TD) : rigging, shaders, outils, pipeline pour studios d'animation.  ·  « L'ingénieure qui fait de la 3D » EST le profil TD : Python + Houdini/Maya + maths battent un book d'art 🟢.  ·  Voie B1 (technique/publique/CS) SANS portfolio artistique — recommandée pour la candidate.  ·  Voie B2 (écoles d'animation privées) exige un book artistique professionnel = barrière → écartée.  ·  L'IA augmente la demande d'ingénieurs qui construisent les outils, pas des artistes juniors.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Divertissement : impact social moins direct que la santé/réhab.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de la création visuelle : animation, personnages, rendu.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Rigging, shaders, outils Python/USD, pipeline : très technique.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lien direct au monde réel ou au cerveau.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d'informatique graphique, animation par ordinateur, maths du rigging.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d'outils Python/USD/Houdini pour artistes.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pipeline : retargeting mocap, cleanup, procédural.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TFM/projet technique + publication d'outils sur GitHub (le « portfolio » TD).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Director : construire et maintenir le pipeline d'un studio.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Rigging TD / Pipeline TD : outils Python pour animateurs et FX artists.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graphique : intégration USD, procédural Houdini, automatisation.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TD/pipeline supérieurs aux postes artistes juniors.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animation/VFX en crise 2024-2026 🟢 : entrer comme artiste = risqué.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la demande d'ingénieurs d'outils/pipeline résiste mieux (l'IA augmente le besoin de TD).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des outils Python/USD/Houdini = même métier que « construire des systèmes en production ».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d'outils mocap/rigging = portfolio technique attendu, pas book d'art.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Parent, Computer Animation: Algorithms and Techniques.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Dunlop, Production Pipeline Fundamentals for Film and Games.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Rigging ; Palamar, Mastering Autodesk Maya.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OpenUSD (Pixar), Houdini, Maya Python API.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SIGGRAPH / SIGGRAPH Asia (référence, 3 passes 🟢), FMX, VIEW, Eurographics.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Pixar-in-a-Box (Khan Academy) : maths du rigging/animation.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Pixar-in-a-Box rigging/animation (4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SideFX Houdini « Foundations » + OpenUSD basics (6-8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 add-on Blender/Python qui batch-traite ses mocaps Rokoko (6 h) — produit direct de portfolio TD.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Pipeline Fundamentals + 1 paper technique SIGGRAPH (4 h).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(1/2)</a:t>
            </a:r>
            <a:endParaRPr lang="en-US" sz="3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2011680"/>
                <a:gridCol w="2011680"/>
                <a:gridCol w="1005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Grenoble Alpes + Ensimag — MoSIG — spéc. Computer Graphics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https://ensimag.gren…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(Maths &amp; numérique)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GOBELINS Paris + ENJMIN (Cnam) — Master Jeux et médias interactifs numé…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— vérifier https://www.cnam.fr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public (Cnam) ; Eiffel à vérifier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Utah — MEAE — track Technical Art (rigging/shaders/tools/…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~US$51 838 (1re année, secondaire)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https://games.utah.e…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assistantships non garantis → risque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 A&amp;M University — MSc in Visualization (M.S. technique/recherche —…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élevé, non trouvé — vérifier https://pvfa.t…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15 janv. (priorité financement) — proj. 20…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assistantships pour beaucoup (pas tous), 2e…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U-tad (centre universitaire) — Máster U. en Computación Gráfica, Realid…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9 900 € (privé, même prix UE/non-UE)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matrícula 1 mai-30 sept. (réf. 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convenio historique Fundación Carolina (à co…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ArtFX — Cursus VFX / Animation 3D / Programming — Bac+5 (RNCP 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élevés (plusieurs k€/an, exact ⚫)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concours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exigé — barrière (f…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ArtFX ne propose PAS de bourse ; non éligibl…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ESMA — Cycle Cinéma d'animation 3D &amp; Effets Spéciaux — Bac+5 (RNCP 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~9 300 €/an national vs ~13 300 €/an inter…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concours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exigé — barrière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« bourses exceptionnelles » seulement ; non…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(2/2)</a:t>
            </a:r>
            <a:endParaRPr lang="en-US" sz="3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2011680"/>
                <a:gridCol w="2011680"/>
                <a:gridCol w="1005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Rubika — Cinéma d'Animation 3D — Mastère (RNCP 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~9 500 €/an Valenciennes vs ~16 000 CAD/an…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concours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exigé — barrière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bourses au mérite (privées, limitées) ; non…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École NAD-UQAC — Création 3D cinéma / programme court Simulation VFX 3D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(Québe…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droits internat. — fin exemptions automne 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https://www.nad.ca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exigé — barrière (c…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faible ; PGWP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stack (ML/data science, FastAPI/Svelte, Blender, Rokoko) = elle sait construire des pipelines et apps déployées, ce que peu d'artistes savent faire.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des outils Python/USD/Houdini pour artistes = même métier que « construire des systèmes en production ».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à bâtir : add-on Blender/Maya Python (retargeting/cleanup mocap) = le portfolio TD.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les outils sur GitHub = le « portfolio » que réclament les programmes techniques.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MoSIG/UPC MIRI : outils mocap-cleanup assistés par IA → transforme sa crainte de l'IA en opportunité.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8/10 —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Franchise crise VFX/animation 2024-2026 🟢 : effondrement Technicolor/MPC/The Mill (fév. 2025), fermetures de studios, licenciements massifs.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 déplace modeleurs 3D et artistes juniors : entrer comme artiste en 2027 = pire rapport risque/coût du dossier.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regret : payer un master d'animation coûteux (US ~50 k$, privés) sans bourse, dans un marché qui se contracte.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 : viser TD/pipeline (outils, pas art) où l'IA augmente la demande ; refuser la voie artiste B2.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VFX et R&amp;D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graphique : rendu physique (PBR), simulation de fluides/tissus, temps réel, vision.  ·  VFX pipeline : outils et infrastructure pour la production d'effets visuels.  ·  Voie B1 recherche/CS SANS portfolio artistique — accessible sur dossier maths+prog.  ·  Bournemouth NCCA affiche « no portfolio » explicite ; Trinity/Bath/Utrecht = voies CS.  ·  Bath CAMERA = pont entre biomécanique (Domaine 1) et graphique : mocap + gait + graphique.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 —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en crise ; impact incertain sauf réorientation R&amp;D/mocap/santé.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VFX, rendu, simulation : très visuel.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physique, simulation, GPU, R&amp;D : riche techniquement.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lien direct — sauf Bath CAMERA (mocap + gait + santé).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 —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rendu avancé, simulation, computer graphics état de l'art, vision.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: mini ray tracer, simulations fluide/tissu, outils GPU temps réel.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: rendu réaliste, mocap, VR/AR ; groupes GMRV/ViRVIG/GV2/CAMERA.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TFM/projet R&amp;D + code publié.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graphique : rendu, simulation, moteurs, outils VFX.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TD / R&amp;D engineer dans un studio ou éditeur d'outils (The Foundry, Unity, NVIDIA).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académique/industrielle en informatique graphique.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Movement/mocap engineer (Bath CAMERA : pont vers santé/gait).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VFX 2024-2026 🟢 : ES note VFX +9,3 % H2-2024 puis -7,6 % H1-2025 (net +1,0 % sur 12 mois).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R&amp;D/pipeline plus résiliente que les postes artistes ; débouchés éditeurs d'outils.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Anciens Trinity : NVIDIA, Unity, Huawei, The Foundry, Tencent.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= principal frein (bourses TCD/BU/CDE limitées) → risque.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 —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Pharr, Jakob &amp; Humphreys, Physically Based Rendering (PBR, gratuit en ligne, la bible R&amp;D, 3 passes 🟢).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Akenine-Möller et al., Real-Time Rendering.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Bridson, Fluid Simulation for Computer Graphics.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Gregory, Game Engine Architecture.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SIGGRAPH proceedings, ACM TOG, Eurographics, Computer Graphics Forum, HPG.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Stanford CS348/CS148, rendu TU Wien, Ten Minute Physics (Müller).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PBRT chapitres 1-4 + mini ray tracer en Python/C++ (10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SIGGRAPH technical-papers (4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une petite simulation (tissu/particules) (6 h).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le tout sur GitHub comme portfolio R&amp;D.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 —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</a:t>
            </a:r>
            <a:endParaRPr lang="en-US" sz="30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2011680"/>
                <a:gridCol w="2011680"/>
                <a:gridCol w="10058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Bournemouth University (NCCA) — MSc Computer Animation and Visual Effec…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(typ. ~£19-24k) — vérifier https…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« rolling » — postuler tôt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 (explicit…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bourses BU limitées → risque financement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College Dublin — MSc Computer Science — Augmented &amp; Virtual Rea…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Irlande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~21 500 vs 26 989 €/an (divergent)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« rolling » — postuler tôt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bourses TCD limitées → risque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Bath — Taught MSc via centre CAMERA / CDE (mocap + gait +…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(typ. ~£26-29k) — vérifier https…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« rolling 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 (voies CS)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CDE historiquement doctoral/UK → risque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 University — MSc Game and Media Technology (graphique, vision,…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~25 306 €/an (2026-27)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 févr./1 avr.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Utrecht Excellence / Holland (limitées) → ri…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Rey Juan Carlos — Máster U. en Informática Gráfica, Juegos…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~84,07 €/crédit → ~5 044 €/60 ECTS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(préinscr. ~printemps 2027)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officiel → Carolina/Colfuturo/ICETEX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Universitat Politècnica de Catalunya (FIB) — MIRI — spéc. Computer Grap…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~5 400 €/an → ~10 800 € les 2 ans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févr.-mai 2027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exigé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officiel → Carolina/Colfuturo (2 ans ✓)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Lightbox Academy — Máster Superior en Animación 3D / Máster en VFX (tít…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(privé, plusieurs k€) — vérifier…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exigé — barrière (s…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�� título propio → non éligible Carolina ; Colf…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 —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PBR (bible R&amp;D, gratuit) + code : elle a maths + programmation pour attaquer le rendu et la simulation.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CAMERA fait le pont Domaine 1↔3 : 2 studios mocap + analyse de la marche + biomécanique &amp; santé.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mémoire mocap markerless/IMU pour l'accessibilité finançable aussi en cadrage graphique.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fit technique : URJC/UPC MIRI (Carolina), Trinity CS-AVR, Utrecht GMT, Bournemouth NCCA.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graphique sur GitHub (mini ray tracer, simulation) sert de portfolio R&amp;D.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CORPS + CRÉATIF — DOMAINE 9/10 —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Franchise crise VFX 2024-2026 🟢 : effondrement Technicolor/MPC/The Mill, ~17 000 emplois entertainment/media 2025 (EN), ~10 000 liés à Technicolor.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générative pèse sur les postes juniors ; entrer dans la VFX comme artiste en 2027 = risqué.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de regret : master VFX cher (UK ~£19-29k) sans bourse, marché contracté, pas de garantie d'emploi.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Atténuation : voie R&amp;D/pipeline (éditeurs d'outils, recherche) et pivot mocap/santé via Bath CAMERA.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 quantitative / computationnelle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Micro/macro/économétrie formalisées : preuves, modèles, identification causale sur données.  ·  Outillage : R, Stata, Python (QuantEcon) sur données tabulaires — zéro Blender.  ·  Branche computationnelle : modèles à base d'agents (ABM/ACE, tradition Epstein &amp; Axtell, Tesfatsion).  ·  Débouché type : politiques publiques, banques centrales, recherche — impact réel mais lent et médié.  ·  L'ABM reste marginal dans les maquettes de master 🟡 (FR+ES concordants) : angle de mémoire, pas un cursus.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Alignement avec ses 4 priorités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99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Impact concret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17904" y="2167128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691640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via politiques publiques, mais lent et médié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Création visuelle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7904" y="3337560"/>
            <a:ext cx="274320" cy="274320"/>
          </a:xfrm>
          <a:prstGeom prst="ellipse">
            <a:avLst/>
          </a:prstGeom>
          <a:solidFill>
            <a:srgbClr val="DDD9EE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862072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absente : preuves et problem sets, zéro Blender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941064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Problèmes techniques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17904" y="4507992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4032504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 servi : maths dures, économétrie, calcul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111496"/>
            <a:ext cx="11155680" cy="1005840"/>
          </a:xfrm>
          <a:prstGeom prst="roundRect">
            <a:avLst>
              <a:gd name="adj" fmla="val 454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2212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Cerveau &amp; monde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9808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3856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17904" y="5678424"/>
            <a:ext cx="274320" cy="274320"/>
          </a:xfrm>
          <a:prstGeom prst="ellipse">
            <a:avLst/>
          </a:prstGeom>
          <a:solidFill>
            <a:srgbClr val="6D5BD0"/>
          </a:solidFill>
          <a:ln w="6350">
            <a:solidFill>
              <a:srgbClr val="6D5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52029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Fortement servi : décisions, incitations, sociétés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— étudiante, puis professionnelle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et problem sets hebdomadaires (micro, macro, économétrie).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R/Stata/Python sur données tabulaires ; culture de la preuve (Bonn, CEMFI).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Séquences style PhD en 2 ans (CEMFI, UC3M, UAB IDEA) ; M1 requis pour le M2 APE.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composante visuelle/3D dans les maquettes consultées 🟡.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2834640"/>
          </a:xfrm>
          <a:prstGeom prst="roundRect">
            <a:avLst>
              <a:gd name="adj" fmla="val 1935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59105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 ans d’expérience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9088" y="1965960"/>
            <a:ext cx="50383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Économiste quantitative : politiques publiques, évaluation d'impact, banques centrales.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RA/predoc payés en Europe : CEMFI, Banco de España, BSE/CREI, EURAXESS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nationalité des institutions (Banque de France…) ⚫ — vérifier sites employeurs.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: ⚫ non trouvés (passe EN : « unsourced, confidence LOW »).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11155680" cy="1965960"/>
          </a:xfrm>
          <a:prstGeom prst="roundRect">
            <a:avLst>
              <a:gd name="adj" fmla="val 279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608576"/>
            <a:ext cx="10753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du marché 2026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4088" y="4983480"/>
            <a:ext cx="1075334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Salaires du domaine ⚫ non trouvés — aucune passe n'a de source fiable.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RA/predoc payé très crédible pour un profil qui code 🟡 — convocatorias 2027 ⚫ (automne 2026).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US financé (tuition waiver + stipend, GRE souvent optionnel) : deadlines ~déc. 2026 🟡.</a:t>
            </a:r>
            <a:endParaRPr lang="en-US" sz="125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doctoral top depuis Bonn BGSE 🟡 ; hub éco BSE/CREI/UPF à Barcelone 🟡.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canonique &amp; parcours d’entrée en 20 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17220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591056"/>
            <a:ext cx="5769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qui comptent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4088" y="1965960"/>
            <a:ext cx="576986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Econ, The Economy 2.0 — gratuit, existe en espagnol (core-econ.org/the-economy/es/).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Sargent &amp; Stachurski, Quantitative Economics with Python — QuantEcon, gratuit, son stack.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Epstein &amp; Axtell, Growing Artificial Societies (MIT Press, 1996) — fondation de l'ACE.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Angrist &amp; Pischke, Mostly Harmless Econometrics (Princeton UP, 2009).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Tesfatsion &amp; Judd (dir.), Handbook of Computational Economics vol. 2 : ACE (2006).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Foley, « The economy needs agent-based modelling », Nature 460 (2009) 🟢.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463040"/>
            <a:ext cx="4754880" cy="4983480"/>
          </a:xfrm>
          <a:prstGeom prst="roundRect">
            <a:avLst>
              <a:gd name="adj" fmla="val 1154"/>
            </a:avLst>
          </a:prstGeom>
          <a:solidFill>
            <a:srgbClr val="F4F2FB"/>
          </a:solidFill>
          <a:ln w="9525">
            <a:solidFill>
              <a:srgbClr val="D9D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04888" y="1591056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 domaine en 20 heures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04888" y="1965960"/>
            <a:ext cx="4352544" cy="4325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CORE Econ (es) unités 1-3 — 5 h : vocabulaire et modèles de base.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QuantEcon en Python, 4-5 leçons (dynamique, Markov, équilibre) — 5 h.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Réimplémenter un ABM social (Sugarscape/Schelling) avec Mesa — 4 h.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Farmer &amp; Foley 2009 + 2 papers JASSS (inégalités urbaines) + Mostly Harmless ch. 1-2 — 4 h.</a:t>
            </a:r>
            <a:endParaRPr lang="en-US" sz="1200" dirty="0"/>
          </a:p>
          <a:p>
            <a:pPr marL="127000" indent="-1270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Lire les maquettes PSE-APE M1, CEMFI, BSE ; noter ses lacunes micro/macro/économétrie — 2 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(1/3)</a:t>
            </a:r>
            <a:endParaRPr lang="en-US" sz="30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 (Paris 1, ENS-PSL, EHESS) — Master APE — Analysis and Policy in Eco…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254 €/an + CVEC 105 € (2026) 🟡 ; décret mai…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jan.–12 mars 2027 🟡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(nomination PSE) — contacter dès sept…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TSE Toulouse — Master Econometrics &amp; Statistics, parcours D3S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🟡 (2024-25)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~fin fév. 2027 🟡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ANITI (toutes nationalités) + Eiffel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Dauphine-PSL — Master Quantitative Economics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510–22 000 € selon régime (2025, agrégateu…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jan.–24 fév. 2027 🟡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Eiffel (nomination active)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ENSAE Paris — MS® Data Science (bac+6, 1 an)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 (ordre 10-20 k€) — ensae.fr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 session ~avril 2027 🟡 (patron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Eiffel probablement inapplicable (hors LMD)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UCLouvain — Master [120] sciences éco., orientation économétrie (ETRI2M)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Belgique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5 010 € (2025-26) + ~4 175 € dès 2026-27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avril 2027 ⚫ (à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: pas d'Eiffel ; exemption ARES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Montréal — M.Sc. sciences économiques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(QC)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18-30 k CAD/an (2025-26) 🟡 − exemption auto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~1er fév. 2027 ⚫ (à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Exemption UdeM + TA/RA ; PGWP 3 ans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 (Paris 1 + UCLouvain + UAB + Ca' Foscari + SGH) — EMJM Models &amp; Met…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 costs si non financée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 2027 non publiée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bourse EMJM cohorte 2025-27 🟡 ; 2027-29…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(2/3)</a:t>
            </a:r>
            <a:endParaRPr lang="en-US" sz="30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Kiel University — MSc Quantitative Economics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🟡 (contribution semestrielle seule)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juil./1er août 2027 🟡 (uni-assist)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frais ; vie ~950 €/mois 🟡 ; permis 18 moi…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Universität Bonn — MSc Economics (BGSE)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+ ~330 €/semestre social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jan. 2027 🟡 (portail ouvre mi-nov.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frais ; placement PhD top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 Amsterdam — MSc Econometrics and Data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2027 non trouvé (norme NL 18-26 k€)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~1er avril 2027 ⚫ (à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 de financement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Tilburg University — MSc Economics, track Data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19 900 € (2026-27, officiel)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rondes jan.-avril 2027 ⚫ (à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Waivers limités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 (UPF/UAB), Barcelone — MSc in Economics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≈16 500 € (2026, agrégateur)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déc. 2026 · financement 15 jan. · fin 8 jui…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Waivers 25-100 % + bourses complètes ; ~550 k€/…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CEMFI, Madrid — Master in Economics and Finance 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≈21 000 € totaux (2026, agrégateur)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31 jan. · final 31 mai 2027 🟡 (p…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Carolina-BBVA : 2 places LatAm, matrícula + 900…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UC3M, Madrid — Master in Economic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(prix par crédit) — uc3m.es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rondes dès l'automne 2026 — vérifier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bourses matrícula + stipende ≈830 €/mois + 1…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de master (3/3)</a:t>
            </a:r>
            <a:endParaRPr lang="en-US" sz="30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60120"/>
                <a:gridCol w="2148840"/>
                <a:gridCol w="2240280"/>
                <a:gridCol w="2423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clé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UAB (IDEA), Bellaterra — Master in Economic Analysis (IDEA)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catalan + suppl. non-UE (simula…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15 nov. 2026 – 30 juin 2027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Bourses du programme (à vérifier)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de Alicante — Máster en Economía con Ciencia de Datos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≈2 120 €/an (réf. master frère 2025-26)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préinscription ~mars-juin 2027 🟡 (patron 202…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public bas + Carolina possible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309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programme retenu (fiche détaillée en annexe). Tous les faits : voir badge + année de validité ; URL dans les dossiers de phase et en annexe.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avec son profil CS /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ABM/ACE = pont littéral avec ses systèmes multi-agents en production (Mesa, Sugarscape/Schelling).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« inégalités d'accès aux équipements publics urbains » : continuité Kennedy/Bogotá, vendable à PSE (tradition Piketty).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Chetty et al., Opportunity Atlas : modèle méthodologique pour « accès aux espaces publics ».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UAB IDEA : « advanced quantitative and computational methods » — l'orthodoxie la plus proche de l'ABM.</a:t>
            </a:r>
            <a:endParaRPr lang="en-US" sz="14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D3S : économétrie + ML pour sciences sociales, conçu pour profils quantitatifs non-éco.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LE PLUS AUTONOME — DOMAINE 10/10 —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— le scénario où elle regretterait ce choix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55680" cy="4480560"/>
          </a:xfrm>
          <a:prstGeom prst="roundRect">
            <a:avLst>
              <a:gd name="adj" fmla="val 1224"/>
            </a:avLst>
          </a:prstGeom>
          <a:solidFill>
            <a:srgbClr val="FBF1F0"/>
          </a:solidFill>
          <a:ln w="9525">
            <a:solidFill>
              <a:srgbClr val="E5B9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franc 🟢 (3 passes) : plan B intellectuellement solide, PAS un plan A — mal aligné avec la priorité ② création visuelle (zéro Blender au quotidien).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L'ABM, son vrai point d'accroche, est marginal dans les maquettes de master 🟡 : angle de lettre et de mémoire, pas un cursus.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 sans bourse EMJM cohorte 2025-27 🟡 (2027-29 ⚫) : la voie financée passe par Kiel/Bonn 0 €, waivers espagnols ou Eiffel.</a:t>
            </a:r>
            <a:endParaRPr lang="en-US" sz="1450" dirty="0"/>
          </a:p>
          <a:p>
            <a:pPr marL="152400" indent="-1524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7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honnête (passe ES) : si les 12 premières heures du parcours 20 h l'ennuient, ce domaine n'est pas son plan 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DES 4 PHASES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Transversal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global · programmes hybrides · financement · rétroplanning · risques · ce qui reste à vérifier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(1/9)</a:t>
            </a:r>
            <a:endParaRPr lang="en-US" sz="30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— M1+M2 Human-Computer Interaction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🟡 (2026-27) ; exonération 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(Eiffel interne oct.–nov.…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+ IDEX 10 000 €/an sur invitati…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UGA / Grenoble INP — MoSIG (pistes UIS = HCI ; GVR = graphique)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🟡 (2026-27) sauf exonératio…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~15 janv.–30 avr. 2027 🟡 (patron…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appel interne UGA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Montréal (DIRO) — Maîtrise en informatique (recherc…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Québec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trouvés — calculateur officiel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1er févr. 2027 🟡 (règle annuelle publi…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exemption UdeM + assistanats du direct…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— MSc Interactive Media Technology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SEK 360 000 total programme 🟡 (2026)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janv. 2027 🟡 (portail ouvre ~16 oct…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KTH Scholarship (waiver total) + SI :…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KAIST (GSCT) — MS in Culture Technology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couverts : scolarité + ~400 000 KRW/moi…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2027 : early ~déc. 2026, regular ~…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KAIST automatique ou GKS-G (~fé…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HKUST (Guangzhou) — MPhil Computational Media and Arts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 (diplôm…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studentship complet jusqu'à 2 ans 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 au fil de l'eau — candidater…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Postgraduate Studentship intégral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 — MU Sistemas Cognitivos y Medios Interactivos (CSIM)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non-UE ⚫ (UE ≈ 1 162 €/60 ECTS 🟡, 2025…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rondes publiées au 1er trim. 2026-27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ayudas internes CSIM + Carolina (catalogu…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(2/9)</a:t>
            </a:r>
            <a:endParaRPr lang="en-US" sz="30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IMLEX (UEF, KU Leuven, UJM + Toyohashi) — Erasmus Mund…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FI/BE/FR + JP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 scientifiqu…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couverts par bourse EM (mieux classés)…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réouverture déc. 2026, ~mi/fin janv. 20…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(scolarité + alloca…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Wien — MSc Visual Computing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Autriche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 scientifiqu…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726,72 €/semestre 🟡 (≈ 2 900 € le dipl…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~juil.–oct. 2027 🟡 (WS 2026/27 :…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si bas que Colfuturo suffit ; OeAD 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Glasgow School of Art + Univ. of Glasgow — MSc Medical Visualisat…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 scientifiqu…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frais internationaux non trouvés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2027/28 non publié (patron UK : oct.…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Chevening-éligible (choix rare, peu co…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URJC — MU Informática Gráfica, Juegos y Realidad Virtual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 scientifiqu…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~5 044 €/60 ECTS 🟡 (precios Madrid — à…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(admission URJC ~févr.–juil.)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 ; en 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RE_PLAY (Lusófona, LUCA, Aalto) — Erasmus Mundus MA in…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PT/BE/FI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couverts par bourse EM (mieux classés)…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oct. 2026–mi-janv. 2027 🟡 (patro…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24 mois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CNAM-ENJMIN — Master JMIN (spécialités dont ergonomie/UX)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(a priori droits nationaux 3 941 €/an…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proj. dépôt concours ~fin janv. 2027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Eiffel théorique ⚫ pratique ; Colfuturo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University of Copenhagen — MSc Games (Design/Technology)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montant non trouvé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~1er mars vs 15 mars 2027 (sources 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Danish State Scholarship : 3-4/an, automa…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(3/9)</a:t>
            </a:r>
            <a:endParaRPr lang="en-US" sz="30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Aalto University — Game Design and Development (MSc/MA)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~15 000 €/an 🟡 (standard Aalto, non vé…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déc. 2026 – 5 janv. 2027 🟡 (cycle 20…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Aalto Cat. A 100 % / Finland Scholarsh…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of Skövde — SEGMA → successeur « Game Development 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 : ~12 421 € 🟡 (secondaire)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janv. 2027 🟡 (portail suédois)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(Colombie éligible) ; contenu du succe…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 (ETSEIB + Institut Guttmann) — MU Neuroingeniería y Rehabilit…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≈9 496 € non-UE 🟡 (fiche 2025-26)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ETSEIB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Cité (+ Arts et Métiers) — Master Ingénierie de…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droits différenciés nat. ~3 770–3 94…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Mon Master ~févr.–mars…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 ; chaire IA 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Paris — Master Digital Skills for Health Transformation (DS4He…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montant PDF officiel non extrait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(procédure IP Paris)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IP Paris ; Eiffel via établiss…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Bordeaux — ISPED — M2 Public Health Data Science (D…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~3 941 €/an (réf. 2025-26)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programme DPH ; Eiffel via éta…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 — MSc Health Data 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£32 100/an (réf. ~2025-26)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(au fil de l'eau)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Chevening (si expérience) ; bourses in…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(4/9)</a:t>
            </a:r>
            <a:endParaRPr lang="en-US" sz="30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catalan (URV+UPC+UB+UAB+UGA) — Master interuniversitai…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recargo catalan (~102,52 €/crédit UP…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(via URV)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; réseau BIB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UNIA (US+UGR) — Máster en IA aplicada a Ciencias de la Salud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andalou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préinscription 8–15 sept. 2026 (pour…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Cité (co-hab. Sorbonne/ENS) — Master Sciences co…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droits différenciés nat. (à confirme…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(cog-sup.fr / Mon Master)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 ; bourses PSL…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— M2 Computational Neurosciences and Neur…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0–500 € vs droits diff. — divergence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IDEX / Graduate School Neurosciences ;…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BCCN Berlin (TU/HU/Charité) — MSc Computational Neuroscience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 (~250–350 €/sem)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mars 2027 (patron 15 mars)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+ DAAD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Tübingen (BCCN) — MSc Neural Information 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 (public)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~31 mars 2027 (patron 31 mars)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+ DAAD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Politécnica de Madrid — Máster en Neurotecnología (MU…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UPM non trouvé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au catalogue Fundación Carolina (fiche…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(5/9)</a:t>
            </a:r>
            <a:endParaRPr lang="en-US" sz="30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 (ETSEIB, Barcelone) — University Master's in Neuroengineering…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~102,52 €/crédit non-UE ⇒ ~12 000 €…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+ Colfuturo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de Granada (ETSIIT) — Máster DATCOM — UE Neuro Comp &amp;…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andalou (bas) non trouvé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(préinscription DUA ~juin…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bas ; Carolina (catalogue ⚫)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Claude Bernard Lyon 1 — Master Bio-informatique (Bioin…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droits différenciés nat. (à confirme…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Mon Master ~févr.–mars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via établissement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Montréal — Maîtrise en bio-informatique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 (Québe…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exemption auto : Niv. A 13 340,40 $C…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dépôts intl ~févr.–mars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d'exemption automatique ; PGWP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Freie Universität Berlin — MSc Bioinformatics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 (public)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gratuité + DAAD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 QuBiD — EMJM Quantitative Biodiversity (bioinfo + IA)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UE (6 pays)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couvert par bourse 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nouveau programme, 1re cohorte incert…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 EM complète 1 400 €/mois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Universitat Pompeu Fabra + UB — Master in Bioinformatics for Heal…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~5 750 €/an (terceros, réf. 2024-25)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(préinscription ~nov./jan…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(catalogue ⚫) ; Colfuturo ; ICET…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(6/9)</a:t>
            </a:r>
            <a:endParaRPr lang="en-US" sz="30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Autónoma de Madrid — Máster en Bioinformática y Biolo…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prix public Madrid non trouvé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« Tecnológico » admis ; Carolina (…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Royal Institute of Technology — MSc Medical Engineering — Bio…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Suède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SEK 360 000 total (~31-33 k€,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~15 janv. 2027 (proj.)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🟢★ KTH Scholarship (exon., sans expérien…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Paris-Saclay (STAPS) — Master Sciences du mouvement hu…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https://www.un…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(Sciences de l'ingénieur)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Nantes Université (STAPS) — Master Human Movement Sciences and En…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https://staps.…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(Nantes porte les candidatures)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de Poitiers (Institut Pprime) — Master Ingénierie de 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https://sfa.un…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Aalborg University (AAU) — MSc Biomechanical Engineering (labo An…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Danemark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~DKK 57 850/an (~7 745 €/an, le moin…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~15 janv.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bourses AAU/gouv. danois (limitées)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Twente — MSc Biomedical Engineering — spécialisatio…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~14 250 €/an (2026)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 mai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University Twente Scholarships (3 000–…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(7/9)</a:t>
            </a:r>
            <a:endParaRPr lang="en-US" sz="30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Paris Nanterre (STAPS) — Master Sciences du sport &amp; du…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fiche univ-nan…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Univ. Grenoble Alpes + Ensimag — MoSIG — spéc. Computer Graphics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~3 770 €/an (2026-27)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— vérifier https://ensima…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(Maths &amp; numérique)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GOBELINS Paris + ENJMIN (Cnam) — Master Jeux et médias interactif…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— vérifier https://www.cna…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public (Cnam) ; Eiffel à vérifier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Utah — MEAE — track Technical Art (rigging/shaders/…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~US$51 838 (1re année, secondaire)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https://games.…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assistantships non garantis → risque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 A&amp;M University — MSc in Visualization (M.S. technique/reche…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élevé, non trouvé — vérifier https://…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15 janv. (priorité financement) — pr…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assistantships pour beaucoup (pas tous…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U-tad (centre universitaire) — Máster U. en Computación Gráfica,…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9 900 € (privé, même prix UE/non-UE)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matrícula 1 mai-30 sept. (réf. 2026-…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convenio historique Fundación Carolina…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Bournemouth University (NCCA) — MSc Computer Animation and Visual…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(typ. ~£19-24k) — vérifier…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« rolling » — postuler tôt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bourses BU limitées → risque financeme…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(8/9)</a:t>
            </a:r>
            <a:endParaRPr lang="en-US" sz="30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College Dublin — MSc Computer Science — Augmented &amp; Virtu…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Irlande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~21 500 vs 26 989 €/an (divergent)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« rolling » — postuler tôt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bourses TCD limitées → risque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of Bath — Taught MSc via centre CAMERA / CDE (mocap +…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 (typ. ~£26-29k) — vérifier…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« rolling 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CDE historiquement doctoral/UK → risque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 University — MSc Game and Media Technology (graphique, vi…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Pays-Bas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~25 306 €/an (2026-27)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~1 févr./1 avr. 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Utrecht Excellence / Holland (limitées…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Universidad Rey Juan Carlos — Máster U. en Informática Gráfica, J…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~84,07 €/crédit → ~5 044 €/60 ECTS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publiée (préinscr. ~printemps 202…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officiel → Carolina/Colfuturo/ICETEX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Universitat Politècnica de Catalunya (FIB) — MIRI — spéc. Compute…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~5 400 €/an → ~10 800 € les 2 ans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proj. févr.-mai 2027 (patron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officiel → Carolina/Colfuturo (2 ans ✓)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 (Paris 1, ENS-PSL, EHESS) — Master APE — Analysis and Policy…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254 €/an + CVEC 105 € (2026) 🟡 ; décre…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jan.–12 mars 2027 🟡 (patron 2026)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Eiffel (nomination PSE) — contacter dè…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Kiel University — MSc Quantitative Economics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🟡 (contribution semestrielle seule)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juil./1er août 2027 🟡 (uni-assist)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frais ; vie ~950 €/mois 🟡 ; permis…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comparatif global — programmes retenus (9/9)</a:t>
            </a:r>
            <a:endParaRPr lang="en-US" sz="30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868680"/>
                <a:gridCol w="173736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Université — 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non-UE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Universität Bonn — MSc Economics (BGSE)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+ ~330 €/semestre social 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jan. 2027 🟡 (portail ouvre mi-nov.…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frais ; placement PhD top 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 (UPF/UAB), Barcelone — MSc in Economics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≈16 500 € (2026, agrégateur) 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déc. 2026 · financement 15 jan. · fin…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Waivers 25-100 % + bourses complètes ; ~5…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CEMFI, Madrid — Master in Economics and 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≈21 000 € totaux (2026, agrégateur) 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financement 31 jan. · final 31 mai 2027…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Carolina-BBVA : 2 places LatAm, matrícula…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Programmes hybrides — sa meilleure zone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programmes qui croisent plusieurs de ses domaines sont ceux où son profil atypique (code + 3D + mouvement + accessibilité) cesse d’être « dispersé » pour devenir l’argument central.</a:t>
            </a:r>
            <a:endParaRPr lang="en-US" sz="125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155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44805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c’est sa 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Cogmaster (ENS-PSL/EHESS)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Sciences cognitives en anglais, ouvert aux profils info/ingénierie ; meilleure passe…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https://cogmaster.ens.psl.eu/en/cogmaster-adm…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ID3D — Image, Développement et Technologie…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LA priorité ② en master public français (3D, synthèse d'images, jeux) ; bourse Labex…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http://master-info.univ-lyon1.fr/ID3D/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UCL CASA — MSc Urban Spatial Science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Londres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labo d'urban analytics ; continuité parfaite du mémoire parcs ; frais overseas ⚫ ; d…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https://www.ucl.ac.uk/prospective-students/gr…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 MADE (TU Delft + Wageningen)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Amsterdam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Living-lab urbain ; ~22 290 €/an (agrégateur ⚫ vérifier)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https://www.ams-institute.org/education/msc-m…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 — MSc Game and Media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Utrecht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Games/graphics/motion = fit mocap+Blender ; 25 306 € (2026-27, officiel) 🟡 ; bourses 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https://www.uu.nl/masters/en/game-and-media-t…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ITU Copenhagen — MSc Games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Copenhague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 for Computer Games Research ; ~DKK 50 000/semestre (~6 700 €) 🟡 ; bourses danoi…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https://en.itu.dk/Programmes/MSc-Programmes/G…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Twente — MSc Interaction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Enschede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HCI+IA+accessibilité ; 🔴 frais contradictoires 17 k€–21,7 k€ — vérifier ; bourse UTS 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https://www.utwente.nl/en/education/master/pr…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— MSc Interactive Media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Stockholm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Piste seulement ; KTH Scholarship = frais sans la vie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https://www.kth.se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FINANCEMENT INTÉGRAL, SANS CONDITION D’EXPÉRIENCE NI DE RETOUR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Erasmus Mundus — les EMJM pertinents (1/2)</a:t>
            </a:r>
            <a:endParaRPr lang="en-US" sz="30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103120"/>
                <a:gridCol w="192024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EMJM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Adéquation profil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IMLEX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imagerie &amp; lumière en XR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multi-UE + semestre au Japon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 jan. 2027, ronde unique 🟡 (p…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cible n°1 : meilleure fusion créa…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IMIM (Imaging)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imagerie/vision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consortium — vérifier emjm-…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~nov. 2026–jan. 2027 (R1 2026 : 9…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profil CV/3D directement pertinen…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artificiel…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UPF, Sapienza, Radboud, Ljubl…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ronde bourse ~15 nov.–20 déc. 202…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continuité CS/IA, l'admission la…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DEAI (ex-BDMA)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engineering + 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ULB / UPC (successeur de BDMA)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non trouvée — vérifier ULB/DTIM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profil FastAPI/Mongo = étudiante…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SMACCs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cities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multi-UE (contrat EMJM 2023-2…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~jan.–mars 2027 (2024 : ~15 mars)…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lien direct avec sa recherche sur…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Digital Ea…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géodonnées/EO/géovisual…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multi-UE (Salzburg et al.)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nov. 2026 – 18 jan. 2027 🟡 (…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l'accessibilité des parcs en vers…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Cartography M.Sc.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cartographie/géoviz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TUM, TU Wien, Dresden, Twente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 ~15 mars · autofinancé 31…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 — cartes + design visuel + données…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FINANCEMENT INTÉGRAL, SANS CONDITION D’EXPÉRIENCE NI DE RETOUR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Erasmus Mundus — les EMJM pertinents (2/2)</a:t>
            </a:r>
            <a:endParaRPr lang="en-US" sz="30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103120"/>
                <a:gridCol w="1920240"/>
                <a:gridCol w="20116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EMJM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Consortium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Adéquation profil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Choreomundus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anthropologie de la dan…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multi-UE (Roehampton et al.)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bourses × 1 400 €/mois (20…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ouvre ~oct. 2026, ferme ~jan. 202…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 — identité danseuse mais faible sur…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Arts Cultures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art / curation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multi-UE (Danube Krems et al.)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+ scolarité 🟡…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~1er jan. 2027 🟡 (patron)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 — créatif mais peu de code.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Écartés : QEM (éco quantitative) : admissible MAIS pas de bourse cohorte 2025-27 🟡 ; statut 2027-29 ⚫ — re-vérifier nov. 2026. · MAIA (imagerie médicale) : pas de bourses EMJM 2024-26 (autofinancé) — bloqué, re-vérifier 2027 ⚫. · 4CITIES (études urbaines) :…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Chevening (UK) — le cas limite à trancher en août 2026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: 2 800 h d'expérience ≈ 2 ans à 35 h/semaine 🟡 (chevening.org via recherche, 2026).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compte : stages payés/non payés + temps partiel + freelance, cumulables jusqu'à 15 périodes — sauf activité créditée au cursus.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cas : ~20 h/semaine × ~2,7 ans ≈ 2 800 h — plausible SI son travail non crédité est documentable.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🔴 : deux textes officiels divergent (« heures après le diplôme » vs « avant/pendant/après sauf crédité ») ; phases 2-3 disaient « bloquée ».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candidature : 4 août – 6 oct. 2026 🟡 [2026] ; offre UK inconditionnelle exigée avant le 8 juil. 2027.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Obligation classique de retour au pays 2 ans après la bourse — non couverte par les passes ⚫, potentiellement rédhibitoire pour « rester dehors ».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ni bloquée ni acquise — calculer ses heures réelles en août 2026 (calculateur officiel) + lire FAQ cycle 2027 + trancher la clause de retour.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manque des heures → viser le cycle 2028.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CE QUE SEUL L’ESPAGNOL A RÉVÉLÉ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Financement colombien &amp; hispanophone (1/2)</a:t>
            </a:r>
            <a:endParaRPr lang="en-US" sz="30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108960"/>
                <a:gridCol w="21031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pour 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Fundación Carolina (ES)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 + 550/600/900 €/mois selon progra…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Colombienne OK ; recién graduadas concourent mais 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jan. – début mars 2027 🟡 (pa…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Carolina–BBVA / CEMFI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Matrícula CEMFI + 900 €/mois × 22 mois + vo…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Admissible (CEMFI accepte ingénieures, diplôme prés…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candidature FC ~jan.-mars 2027 ;…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Colfuturo Crédito-Beca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Jusqu'à 50 000 USD (2026) 🟢 — prêt partiel…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Depuis 2026 : condonation max 25 % (avant 80 %)…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~jan.–mars 2027 🟡 (patron 2026 :…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ICETEX — Posgrado Exterior La…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jusqu'à 25 000 USD (12 500/semestre) ;…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Colombienne OK — dette, sans clause de retour signa…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continus 🟡 [2026]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ICETEX — Sostenimiento Exteri…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Prêt jusqu'à 12 500 USD de manutention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 — dette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[2026]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ICETEX — crédito 100 % condon…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Jusqu'à 25 000 USD, condonable 100 % avec p…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son profil 3D/créatif s'empaquette en master « 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 juin 2026 ; cycle 2027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ICETEX — becas de gobiernos 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Couvertures 60-100 % (Portugal, Espagne, Me…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Selon convocatoria — au cas par cas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 ~juil.-août de chaque anné…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CE QUE SEUL L’ESPAGNOL A RÉVÉLÉ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Financement colombien &amp; hispanophone (2/2)</a:t>
            </a:r>
            <a:endParaRPr lang="en-US" sz="30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108960"/>
                <a:gridCol w="21031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pour 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MinCiencias « Becas para el C…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 becas (« becas, no deuda ») — maestrías…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maestría à l'étranger n'est PAS une modalité → 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convocatoria 975 close 20 avril 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EIFFEL, EM, BOURSES INTERNES, ASIE, WILDCARDS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Financement — autres dispositifs (1/3)</a:t>
            </a:r>
            <a:endParaRPr lang="en-US" sz="30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108960"/>
                <a:gridCol w="21031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pour 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Bourses EMJM (Erasmus Mundus)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≈1 400 €/mois × 24 mois + frais + assurance…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Colombie = pays partenaire à quota renforcé ; aucun…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fenêtres nov. 2026 – mars 2027 se…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 Excellence Eiffel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1 181 €/mois 🔴 (vs « 1 200 € dès jan. 2026…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Nationalité et âge OK (né après 31/03/1996, cycle 2…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deadlines internes écoles oct.–dé…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Chevening (UK)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1 an UK tout compris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2 800 h à documenter (stages/temps partiel compt…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août – 6 oct. 2026 🟡 [2026]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Allemagne sans frais (K…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de scolarité ; reste ~950-1 100 €/mois…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Ouverte ; pas une bourse en soi — combinable avec 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 15 jan. 2027 · Kiel ~mai-jui…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MEXT (Japon, recommandation 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: frais + ~144 000 ¥/mois + vol (resea…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via ambassade Bogotá ; ⚠️ cycle rentrée 2027 a c…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~avril-mai de chaque année ⚫ — vé…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GKS — Global Korea Scholarship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 (track graduate, quota Amériques)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Colombienne OK, &lt;40 ans 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ambassade ~fév.-mars 2027 p…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Stipendium Hungaricum (Hongri…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+ stipende + aide logement ; aucune 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Colombie partenaire, quota récemment doublé 🟡 ; pa…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~mi-jan. 2027 pour sept. 2027 🟡…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EIFFEL, EM, BOURSES INTERNES, ASIE, WILDCARDS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Financement — autres dispositifs (2/3)</a:t>
            </a:r>
            <a:endParaRPr lang="en-US" sz="30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108960"/>
                <a:gridCol w="21031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pour 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— SISGP (Suède, Global Pro…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Suède tout compris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h d'expérience exigées pour la Colombie (barr…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cycle 2027 — vérifier si.se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— Pioneering Women in 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Colombie ABSENTE de la liste 2026/27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KTH Scholarship (Suède)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seulement, PAS la vie (~930 €/mois SE…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Ouverte non-UE ; reste ~11 k€/an de vie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vérifier kth.se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ANITI (Toulouse, IA)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Bourses M1/M2 D3S, toutes nationalités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si admise TSE D3S — complément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vérifier tse-fr.eu (403)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UC3M département + Santander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waivers matrícula non-UE + stipende ≈830…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si admise UC3M — complément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la candidature UC3M 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BSE waivers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25/50/75/100 % + bourses complètes avec sti…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— candidater avant le 15 jan.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jan. 2027 🟢 (bse.eu)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Exemption UdeM + TA/RA (Québe…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Réduction automatique des frais internation…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Automatique si admise ; PGWP 3 ans en aval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l'admission (~1er fév. 2027…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· EIFFEL, EM, BOURSES INTERNES, ASIE, WILDCARDS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Financement — autres dispositifs (3/3)</a:t>
            </a:r>
            <a:endParaRPr lang="en-US" sz="30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3108960"/>
                <a:gridCol w="21031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Couverture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pour elle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2027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Labex PRIMES (ID3D Lyon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Bourse d'excellence, candidatures internati…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si candidate ID3D — complément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⚫ vérifier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Caixa INPhINIT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Doctorat seulement (ES/PT, ~60/an)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pour un master 2027 — plan doctoral 2028+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RA/predoc payé ou PhD f…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 (RA Europe : CEMFI, Banco de España…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crédible : CS + multi-agents en prod + étude p…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PhD US ~déc. 2026 ; RA au fil de…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qu’elle n’avait pas envisagées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RA/predoc payé — CEMFI, Banco de España, BSE/CREI, EURAXESS, predoc.org : on la PAIE pour entrer dans l'écosystème, master/PhD financé ensuite. Porte réelle pour un profil qui code ; convocatorias 2027 ⚫.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financé direct (US) — HCI/urban computing : tuition waiver + stipend, GRE souvent optionnel, deadlines ~déc. 2026. Crédible avec CS + multi-agents en prod + étude publiée ; zéro frais ; compatible « rester dehors ».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Stipendium Hungaricum — Le repli financé le plus accessible : pas d'expérience exigée, quota colombien doublé 🟡. BME/ELTE (CS, sciences cognitives).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URBANTIC (EIVP) et Master Génie urbain (Univ. Gustave Eiffel) — Ville numérique — URBANTIC cher et hors Eiffel ⚫ ; Gustave Eiffel = diplôme national, bourse Eiffel possible.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titulación Uniandes–INSA Lyon — Diplôme d'Ingénieur (grado+máster) — seulement si encore matriculada : fenêtre qui se ferme avec le diplôme 2026. Vérifier IMMÉDIATEMENT auprès de l'oficina de internacionalización.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Ergonomie / HCI francophone (CNAM, Paris-Saclay Interaction) — Croiserait danse/biomécanique + design d'interaction — non instruit, à ouvrir en phase suivante ⚫.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Caixa INPhINIT — Doctorat seulement (ES/PT, ~60/an) — pertinent pour un plan doctoral 2028+, pas pour le master 2027.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Atout INSA Lyon réutilisable — Le semestre d'échange = preuve interne de réussite dans le système INSA → lettres d'enseignants INSA + masters lyonnais (ID3D). Statut Alumni INSA Lyon ⚫.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Rétroplanning juillet 2026 → rentrée 2027 (1/5)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Juil.-août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heures Chevening (calculateur officiel) + vérifier clause de retour 🟡 — chevening.org/scholarships/who-can-apply/work-experience/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MEXT à l'ambassade du Japon — fenêtre 2027 peut-être déjà fermée ⚫ — colombia.emb-japan.go.jp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final des programmes cibles 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706624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523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4 août – 6 oct.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724912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Chevening 🟡 [2026] — si ≥2 800 h ET si « rester dehors » survit à la clause de retour — chevening.org/scholarships/application-timeline/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959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Août-sept.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968496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 + relevés officiels ; légalisation MinEducación en ligne PUIS apostille Cancillería 🟢 (24 h-3 j, ~COP 31-36 k/doc 🔴) — cancilleria.gov.co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Traductions certifiées FR/DE/NL — rien pour l'Espagne 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193792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395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5212080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 Academic 🟡 — un test de sept. 2026 (validité 2 ans) couvre toutes les candidatures 2027 ET la rentrée — ielts.org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Rétroplanning juillet 2026 → rentrée 2027 (2/5)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Sept.-oct.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les scolarités françaises pour Eiffel (nomination ? deadline interne ?)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Verrouiller 2-3 recommandataires (dir. mémoire + employeur + enseignant INSA)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Lettre de motivation maître ; portfolio 3D/dev (imaging/media) ; prépa GRE si CEMFI 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706624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523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Oct.-déc.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724912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INTERNES Eiffel des établissements 🟡 [patrons 2025 : Assas 22 oct.-12 nov. ; ENS Lyon 22 nov.] — la vraie deadline, une tentative à vie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compte Études en France ; ouverture des candidatures EMJM 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959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Nov.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968496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uni-assist + demande VPD (4-6 semaines) pour Bonn/Kiel 🟡 — uni-assist.de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nov. : ouverture rolling UAB IDEA 🟡 ; ~15 nov.-20 déc. : ronde bourse EMAI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Re-vérifier statut bourses QEM 2027-29 ⚫ — master-economics-qem.eu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193792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395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déc.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5212080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BSE 2027-28 🟢 (confirmé officiel) — bse.eu/masters-degrees/admissions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Rétroplanning juillet 2026 → rentrée 2027 (3/5)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Déc.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PhD US (si route directe) 🟡 ; ~20 déc. : clôture bourse EMAI 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706624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523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Jan. 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724912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jan. : transmission Eiffel à Campus France 🟡 (patron 2026) ; ~9 jan. : IMIM R1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jan. : financement BSE 🟢 + Bonn BGSE 🟡 + Stipendium Hungaricum ~mi-jan.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jan. : Copernicus CDE 🟡 ; ~21 jan. : IMLEX (ronde unique) 🟡 ; ~31 jan. : CEMFI financement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jan. : ouverture Fundación Carolina 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959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Jan.-mars 2027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968496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France : PSE (15 jan.-12 mars), Dauphine (15 jan.-24 fév.), Cogmaster (15 jan.-24 fév.), TSE (~fin fév.) 🟡 [patrons 2026]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ferme ~2 mars 🟡 ; Colfuturo ferme ~4 mars 🟡 ; GKS fév.-mars 🟡 ; UdeM ~1er fév. ⚫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193792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395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5212080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mars : Cartography (bourse) 🟡 ; SMACCs 🟡 ; ~30 mars : résultats Eiffel 🟡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Rétroplanning juillet 2026 → rentrée 2027 (4/5)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Mars-juin 2027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Préinscription UA Alicante 🟡 ; NL non-UE (1 fév.-1 avril) 🟡 ; rolling IDEA jusqu'au 30 juin 🟡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clôture finale 8 juin 🟢 ; Kiel via uni-assist ~mai-juil. (filet de sécurité tardif) 🟡 ; ~18 mai : résultats Colfuturo 🟡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706624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523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Avril-mai 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724912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d'admission ; arbitrage final : bourse sans retour &gt; bourse avec retour &gt; sans frais &gt; dette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50208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9592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Mai-juin 2027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968496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: entretien pédagogique Campus France Bogotá + attestation 🟡 — colombie.campusfrance.org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Espagne : dossier visa BLS Bogotá (~30 jours ; visa gratuit pour Colombiens + tasa BLS ~COP 401 600) 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5193792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2395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Juin-juil.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5212080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France VLS-TS via VFS (3-6 semaines, commencer ≥2 mois avant) ; solvabilité 878 €/mois dès août 2026 🔴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 : Sperrkonto 11 904 € 🟡 ; NL : l'université gère MVV/VVR 🟡 ; logement (DSE/CROUS si boursière France)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Rétroplanning juillet 2026 → rentrée 2027 (5/5)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 2027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 ; France : CVEC (105 € en 2025-26 🟡, exonérée pour boursières du gouvernement français — vérifier ⚫)</a:t>
            </a:r>
            <a:endParaRPr lang="en-US" sz="1050" dirty="0"/>
          </a:p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VLS-TS en ligne sous 3 mois après l'arrivée 🟡 — service-public.gouv.fr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706624"/>
            <a:ext cx="2286000" cy="1097280"/>
          </a:xfrm>
          <a:prstGeom prst="roundRect">
            <a:avLst>
              <a:gd name="adj" fmla="val 4167"/>
            </a:avLst>
          </a:prstGeom>
          <a:solidFill>
            <a:srgbClr val="2A235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5234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Sept. 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724912"/>
            <a:ext cx="8595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Rentrée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 documentaire &amp; visas depuis Bogotá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Apostille : trámite 100 % en ligne, 24/7, depuis n'importe quel pays 🟢 (cancilleria.gov.co) ; délai 24 h-3 jours ouvrés.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apostille/document 🔴 : ~COP 31 000 (presse) vs ≈COP 36 000 (page officielle) [2026] — budgéter 36 k.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Diplômes du supérieur : légalisation en ligne MinEducación AVANT l'apostille 🟡 ; apostiller diplôme + acta + notes dès la graduación 2026.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Homologation pour étudier : Espagne NON (titre apostillé suffit) ; France NON (l'université décide) ; Allemagne : VPD uni-assist 4-6 semaines (demander nov. 2026) ; NL : évaluation Nuffic interne 🟡 [2026].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Traductions : Espagne = AUCUNE (avantage concret) ; France/Allemagne/PB = traduction jurée si l'université n'accepte pas espagnol/anglais 🟡.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Solvabilité France 🔴 : 615 €/mois jusqu'au 31/07/2026 puis 878 €/mois dès le 01/08/2026 (~10 500 €/an) — budgéter 878 pour un visa 2027.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Espagne : 100 % IPREM = 600 €/mois (~7 200 €/an) 🟡 ; visa GRATUIT pour Colombiens + tasa BLS ≈COP 401 600 ; ~30 jours (BLS Bogotá).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 : Sperrkonto 11 904 €/an 🟡 (ou Verpflichtungserklärung) ; visa ~75 € ⚫ ; délais Bogotá ⚫ — bogota.diplo.de.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Pays-Bas ≈13 000 €/an 🟡 (l'université dépose MVV+VVR à l'IND) ; Suède SEK 10 656/mois ≈930 €/mois 🟡.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= pays à procédure CEF : Études en France OBLIGATOIRE pour le visa, même en admission directe ; entretien à Bogotá ; coût visa 🔴 50/99/150 € — budgéter 99 €.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Décret du 19 mai 2026 : frais différenciés (3 879 €/an) réels par défaut en France 🟡 [FR seule] → Eiffel ou exonération quasi indispensable.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risque par domaine, sans complaisance (1/2)</a:t>
            </a:r>
            <a:endParaRPr lang="en-US" sz="3000" dirty="0"/>
          </a:p>
        </p:txBody>
      </p:sp>
      <p:graphicFrame>
        <p:nvGraphicFramePr>
          <p:cNvPr id="1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scénario de regret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HCI / Interaction humain-machine (dont access…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L'UX junior générique est saturé et l'IA en automatise le bas de gamme : un master trop « design » sans…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 scientifique et médicale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étroite : 6 programmes trouvés seulement, dont 2 fermés d'avance (UIC : portfolio dessin + GRE ; M…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games (santé, réhabilitation, éducati…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jeu vidéo sort de vagues de licenciements 2023-2025 et le créneau serious games est petit : en faire…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en médecine et santé numérique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: miser sur le UK (UCL/Imperial) puis rester bloquée sur Chevening faute des 2 800 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Neurosciences computationnelles et BCI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: viser EPFL/ETH puis rejet (sélectivité) ou coût de vie suisse insoutenable sans bou…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risque par domaine, sans complaisance (2/2)</a:t>
            </a:r>
            <a:endParaRPr lang="en-US" sz="300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scénario de regret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Bioinformatique / biologie computationnelle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majeur : rejet à l'admission pour absence de crédits de biologie.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Biomécanique et technologie du mouvement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Scénario de regret faible : pas de crise sectorielle, marché stable/en croissance, profil différencié.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 3D orientée technical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Franchise crise VFX/animation 2024-2026 🟢 : effondrement Technicolor/MPC/The Mill (fév. 2025), fermet…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VFX et R&amp;D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Franchise crise VFX 2024-2026 🟢 : effondrement Technicolor/MPC/The Mill, ~17 000 emplois entertainmen…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Économie quantitative / computationnelle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franc 🟢 (3 passes) : plan B intellectuellement solide, PAS un plan A — mal aligné avec la prior…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N’AVONS PAS PU TRANCHER — LES DEUX VALEURS SONT AFFICHÉES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Registre des contradictions (1/6)</a:t>
            </a:r>
            <a:endParaRPr lang="en-US" sz="300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B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Condonation Colfuturo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jusqu'à ~50 % condonable » (passe FR, via…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 après la fin du convenio étatal 2026 (…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EN+ES concordent et datent de 2026 ; la valeur FR 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UCL MSc HCI (overseas)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£42 700/an (collegedunia, secondaire)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£37 500/an (gyandhan, secondaire)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 de validité incertaine des deux côtés — vérif…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TH Köln — Cologne Game Lab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~265 €/semestre, frais sociaux seulement (m…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1 500 €/sem. UE / 2 500 €/sem. non-UE (myge…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×10 qui détermine la viabilité — vérifier sur…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non-UE ITU Copenhague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~1er mars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mars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Conflit intra-passe EN — vérifier en.itu.dk et plan…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d'âge Fundación Carolina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sans limite d'âge » (buscadordebecas, sec…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&lt;30 ans pour maestría » (Medium, anecdoti…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résolu — vérifier les bases officielles 2027-28…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 post-études Espagne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mois (cohenyaguirre.es, krabogada.com —…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réforme 2025 est en cause — vérifier la normativ…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N’AVONS PAS PU TRANCHER — LES DEUX VALEURS SONT AFFICHÉES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Registre des contradictions (2/6)</a:t>
            </a:r>
            <a:endParaRPr lang="en-US" sz="300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B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Prix/crédit másters Madrid (extra…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≈84,07 €/crédit (3e matrícula, Decreto 43/2…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grille 19,43/51,75/111,80/154,80 €/cr (poss…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le PDF officiel UAM precios 2025-26 avant…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MAIA — rentrée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Biennal 2025-2027 non offert ; prochaine éd…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Listé comme cible potentielle rentrée 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Ne pas compter sur 2027 sans vérifier le calendr…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NeuroData EMJM — dernière édition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Final edition 2026-2027 » → cohorte démar…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Listé comme EMJM neuro pertinent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🔴/🟡 Si cohorte entre sept. 2026, aucune entrée 20…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Paris-Saclay CNN — frais non-UE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0–500 € (Mastersportal, secondaire)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Droits différenciés ~3 941 €/an (règle Fran…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Divergence majeure ; ne pas s'y fier — confirmer…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EPFL Neuro-X — frais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 CHF/sem pour tous (historique)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Hausse étrangers ~4 480 CHF/an (réforme)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Réforme tarifaire suisse en cours — statut 2027…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 — droits différenciés mast…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~3 770 €/an (2026-27)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(2025-26)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Divergence d'année de validité — confirmer le mo…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N’AVONS PAS PU TRANCHER — LES DEUX VALEURS SONT AFFICHÉES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Registre des contradictions (3/6)</a:t>
            </a:r>
            <a:endParaRPr lang="en-US" sz="3000" dirty="0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B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— apoyo mensuel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450–750 € (officiel-secondaire)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~900–1 200 € (selon convenio)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Varie par source/convenio — vérifier la fiche du…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Tübingen Bioinformatics — éligibi…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Un diplôme d'ingénierie ne constitue PAS…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Ingeniería de sistemas possiblement lue com…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Lecture décisive du diplôme — faire trancher par…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ESMA — frais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~9 300 €/an (national)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~13 300 €/an (international) + 870 € inscr.…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tarif international à confirmer sur esma-artisti…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Rubika — frais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~9 500 €/an cycle Mastère Valenciennes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~16 000 CAD/an campus Montréal internationa…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dépend du campus — confirmer sur rubika-edu.com/…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Trinity CS-AVR — frais non-UE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~21 500 €/an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~26 989 €/an (sources secondaires divergent…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confirmer sur tcd.ie.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UdeM / NAD-UQAC — droits internat…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Exemptions historiques (secteurs prioritair…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 des NOUVELLES exemptions automne 2026 →…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pour une entrée 2027 à Montréal, prévoir droits…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N’AVONS PAS PU TRANCHER — LES DEUX VALEURS SONT AFFICHÉES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Registre des contradictions (4/6)</a:t>
            </a:r>
            <a:endParaRPr lang="en-US" sz="30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B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 — droits différenciés mast…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~3 770 €/an (2026-27)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3 941 €/an (2025-26)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divergence d'année de validité — confirmer le mo…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— apoyo mensuel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450-750 €/mois (selon convenio)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~1 200 €/mois (autre source)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varie par convenio/source — vérifier la fiche du…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Marché VFX — ampleur des pertes (…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: ~45 000 suppressions tech monde 2026 (…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: ~17 000 emplois entertainment/media 20…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🔴/datation — métriques et périmètres non superposa…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Chevening diplômée 20…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Phases 2-3 : « bloquée » (2 ans d'expérienc…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EN : 2 800 h, stages/temps partiel/fr…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 bloquée ni acquise : calculer ses heures en août…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Montants mensuels Fundación Carol…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Fiches publiques 2026 : 550/600/900 €/mois…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Valeurs des phases antérieures non répliqué…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montant est PAR PROGRAMME — vérifier la ficha du…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Colfuturo : condonation 25 % + re…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ES : condonation max 25 %, retour + 3…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EN : « forgiveness % changed in 2026…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Concordance de fond : 🟢 pour 50 000 USD, 🟡 pour 2…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N’AVONS PAS PU TRANCHER — LES DEUX VALEURS SONT AFFICHÉES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Registre des contradictions (5/6)</a:t>
            </a:r>
            <a:endParaRPr lang="en-US" sz="300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B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Solvabilité visa France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FR : 615 €/mois (sans borne de date)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ES : 615 € jusqu'au 31/07/2026 puis 8…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deux vraies à des dates différentes. Pour un vi…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Calendrier Eiffel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FR : internes oct.-déc. 2026 → Campus…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autre passe ne couvre Eiffel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contradiction mais mono-source → 🟡 partout…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visa étudiant France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50 € via Études en France (tarif réduit)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99 € plein tarif VLS-TS ; jusqu'à 150 € sel…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france-visas.gouv.fr ; budgéter 99 €.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apostille/document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~COP 31 000 (passe EN, presse 2026)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≈COP 36 000 (passe ES, page officielle Canc…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Retenir 36 000 (source officielle) ; impact budgéta…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Twente Interaction Technolo…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21 700 €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Vérifier utwente.nl/finance.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Frais Dauphine Quantitative Econo…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510 € (régime national)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jusqu'à 22 000 € totaux (régime établisseme…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Dépend du diplôme (national vs établissement) — vér…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N’AVONS PAS PU TRANCHER — LES DEUX VALEURS SONT AFFICHÉES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🔴 Registre des contradictions (6/6)</a:t>
            </a:r>
            <a:endParaRPr lang="en-US" sz="3000" dirty="0"/>
          </a:p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2743200"/>
                <a:gridCol w="27432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B (source)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3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Eiffel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1 181 €/mois (réglementation en vigueur)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1 200 €/mois « à compter de janvier 2026 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Divergence interne passe FR ; vérifier la réglement…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CONSULTER SOI-MÊME AVANT TOUTE DÉCISION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⚫ Ce que nous n’avons pas pu vérifier (1/5)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Calendrier Eiffel 2027-28 (non publié) — https://www.campusfrance.org/fr/le-programme-de-bourses-france-excellence-eiffel (surveiller dès sept.…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Dates officielles Chevening 2027/28 — https://www.chevening.org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Catalogue Fundación Carolina 2027-28 (présence des masters visés) — https://www.fundacioncarolina.es/catalogo/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Conditions Colfuturo 2027 (taux, condonation définitive) — https://www.colfuturo.org/programas/credito-beca/convocatoria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Academia de Talentos et Mujeres Científicas (détails/deadlines) — https://www.colombie.campusfrance.org/becas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Contenu du successeur de SEGMA (Skövde) — https://www.his.se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Deadline 2027 Paris-Saclay — https://www.universite-paris-saclay.fr/en/admission/masters-applications-and-enrolment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Frais UdeM — https://registraire.umontreal.ca/droits-de-scolarite/calculateur-des-droits-de-scolarite/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Pensums cours-par-cours : manquants pour la quasi-totalité des 36 programmes — URL officielle de chaque programme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Vigueur 2026/27 de Pasaporte a la Ciencia (ICETEX) — https://web.icetex.gov.co/creditos/programa-credito-pasaporte-a-la-ciencia-icetex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Éligibilité de la Colombie aux bourses ARES (Belgique) — https://www.ares-ac.be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Financement KAIST officiel (tous les admis) — https://admission.kaist.ac.kr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Balayage du catalogue Erasmus Mundus (27 nouveaux EMJM récents) — https://erasmus-plus.ec.europa.eu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CONSULTER SOI-MÊME AVANT TOUTE DÉCISION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⚫ Ce que nous n’avons pas pu vérifier (2/5)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[P1] Seuils de langue : français UdeM/ENJMIN ; anglais MoSIG, TU/e, Utrecht, HKUST, KAIST, CSIM, EIT — pages officielles respectives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Deadlines rentrée 2027 (aucune publiée en juil. 2026) : Paris Cité eHealth &amp; NCIA, IP Paris, Bordeaux, Paris-Saclay CNN, Lyon 1, ULB, UdeM — sur…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Cohortes 2027 EMJM (EMMaH, EMJM Imaging, QuBiD, BIOPHAM) — https://erasmus-plus.ec.europa.eu/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MAIA biennal : existe-t-il une rentrée 2027 ? — https://maiamaster.udg.edu/admission/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NeuroData EMJM : dernière édition 2026-2027, pas d'entrée 2027 ? — vérifier sur neurodata-master.org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Frais IP Paris DS4Health (PDF non extrait) — https://www.ip-paris.fr/sites/default/files/pages/documents/Masters/master-phd-track-registration-f…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Frais différenciés Paris Cité eHealth &amp; NCIA pour ces parcours — https://odf.u-paris.fr/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Tübingen bioinfo : ingeniería de sistemas comptée comme informatique ? — écrire aux admissions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Copenhague &amp; KTH : crédits de biologie exigés ? — pages admissions officielles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Imperial : CS/ingénierie admis (borderline) ? — https://www.imperial.ac.uk/study/courses/postgraduate-taught/health-data-analytics/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Langue de NCIA (anglais/français ?) — cog-sup.fr ; langue/anglais de UPC Neuroingeniería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Éligibilité Colombie aux Swiss Government Excellence Scholarships et aux bourses ARES (ULB)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Limite d'âge Eiffel 2027 (29 ans) contre la date de naissance de la candidate — campusfrance.org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CONSULTER SOI-MÊME AVANT TOUTE DÉCISION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⚫ Ce que nous n’avons pas pu vérifier (3/5)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Lignes DAAD sans barrière d'expérience ; catalogue Fundación Carolina 2027-28 (croiser chaque master)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[P2] Calendriers d'urgence : MEXT ambassade Japon ~avril–mai 2026 ; GKS ~févr.–mars 2026 — confirmer d'urgence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Deadlines rentrée 2027 FR (Paris-Saclay, Nantes, Poitiers, Aix-Marseille, Nanterre, MoSIG, ENJMIN) — Eiffel interne ~nov.-déc. 2026 — vérifier…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Frais ENJMIN-Programmation (Mastère/Master public) — vérifier https://www.cnam.fr.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Frais Bournemouth NCCA (403 sur la page, ~£19-24k non confirmé) — vérifier https://www.bournemouth.ac.uk.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Frais Bath CAMERA (~£26-29k non confirmé) et existence d'un MSc taught finançable — vérifier https://www.camera.ac.uk.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Frais Texas A&amp;M M.S. Visualization (élevé, non chiffré) — vérifier https://pvfa.tamu.edu.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Tasa non-UE UPM INEF — vérifier https://www.inef.upm.es.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Droits internationaux NAD-UQAC (fin exemptions Québec automne 2026) — vérifier https://www.nad.ca et quebec.ca.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Frais Lightbox et ArtFX (privés, exacts non confirmés) — vérifier lboxacademy.es et artfx.school/tarifs.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TU Delft : licence Systems/Software Eng. contre la matrice d'éligibilité (barrière mécanique) — vérifier tudelft.nl.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VU Amsterdam : croisement ingénierie+mouvement accepté ? (liste orientée life-sciences) — vérifier vu.nl.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IBV/UPV : profil ingénieur admis malgré filtre « Ciencias de la Salud » ? — écrire à atencion.cliente@ibv.upv.es.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CONSULTER SOI-MÊME AVANT TOUTE DÉCISION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⚫ Ce que nous n’avons pas pu vérifier (4/5)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Langues par année : Paris-Saclay IDSMH / Nantes U-MOVE / Poitiers / Nanterre (français vs anglais) — vérifier fiches officielles.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Limite d'âge Eiffel 2027 (cycle 2026 = 29 ans) et catalogue Fundación Carolina 2026-27/2027-28 (U-tad y est-il ?) — vérifier campusfrance.org…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[P3] ⚫ KTH Scholarship / UTS / TU Delft Excellence : montants et deadlines exacts 2027 — vérifier kth.se, utwente.nl, tudelft.nl.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Réglementation Eiffel 2027 (montant exact, âge, durée, logement) — https://www.campusfrance.org/fr/le-programme-de-bourses-france-excellence-eif…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Texte exact du décret frais différenciés du 19 mai 2026 (plafonds 30/25/20 %) — https://www.legifrance.gouv.fr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Obligation de retour Chevening (2 ans) + point exact des heures pré/post-diplôme — https://www.chevening.org/faqs/ (dès le 4 août 2026)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Limite d'âge Fundación Carolina + clause exacte d'obligation de retour 2027-28 — https://www.fundacioncarolina.es/formacion/preguntas-frecuentes/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Taux d'intérêt et période de grâce Colfuturo — https://sites.colfuturo.org/links/Convocatoria_2026/20260205reglamentopcb2026vf1.pdf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Bourses QEM cohorte 2027-29 — https://master-economics-qem.eu (nov. 2026)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Deadline et consortium définitif DEAI — https://dtim.upc.edu / ULB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Existence/financement GameToLearn et EDISS 2027 — https://www.eacea.ec.europa.eu/scholarships/erasmus-mundus-catalogue_en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Fenêtre MEXT pour rentrée 2027 (peut-être déjà fermée) — https://www.colombia.emb-japan.go.jp/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Frais non-UE UC3M + deadline des rondes — https://www.uc3m.es/master/economic-analysis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CONSULTER SOI-MÊME AVANT TOUTE DÉCISION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⚫ Ce que nous n’avons pas pu vérifier (5/5)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Tasas exactes + langue du máster UA Economía con Ciencia de Datos — https://web.ua.es/es/masteres/eco-dat-sci/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GRE obligatoire ou non à BSE/UC3M/UAB IDEA — pages admissions respectives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Résidence post-études Espagne (12-24 mois, Ley 14/2013 réformée) — https://extranjeria.inclusion.gob.es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[P4] CVEC : exonération pour boursières du gouvernement français — https://cvec.etudiant.gouv.fr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6616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des programmes retenus · bibliographies intégrales · index des sources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B9B3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Paris-Saclay — M1/M2 Human-Computer Interaction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2 ans (entrée M1 ou M2), anglais 🟡 (2026) ; IELTS ≥ 6.0 / TOEFL ≥ 90 / TOEIC ≥ 785.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UCD, évaluation, interaction tangible/multimodale/tactile, VR/AR 🟡 ; liste des UE ⚫ — vérifier master-info-orsay.lri.fr.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3 941 €/an 🟡 (2026-27) ; « ~250 €/an si exonéré » 🟡 secondaire ; décret 2026-385 plafonne les exonérations à 30 %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Eiffel (présélection par le master, interne oct.–nov. 2026 🟡 proj.) + IDEX 10 000 €/an 🟡 sur invitation.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 — vérifier https://www.universite-paris-saclay.fr/en/admission/masters-applications-and-enrolment + Études en France (obligatoire depuis la Colombie 🟡).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Labos : LISN « Interaction avec l'Humain » — AVIZ, EX-SITU, ILDA, VENISE 🟡 ; post-diplôme : carte recherche d'emploi 12 mois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meilleur alignement HCI+visualisation+accessibilité de la zone francophone.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https://www.universite-paris-saclay.fr/en/education/masters-degree/computer-science/m1-human-computer-interaction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UGA / Grenoble INP — MoSIG (pistes UIS/GVR)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master en anglais, orienté recherche, équipe IIHM/LIG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non trouvé — vérifier https://mosig.imag.fr/ ; seuil d'anglais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3 941 €/an 🟡 (2026-27) sauf exonération « redistributive » UGA possible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Eiffel via appel interne UGA 🟡 (deadlines internes oct.–nov. 2026 🟡 proj.).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proj. ~15 janv.–30 avr. 2027 🟡 (cycle 2026 : 15/01–30/04).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plan B francophone solide, HCI (UIS) et graphique (GVR) dans la même candidature.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https://mosig.imag.fr/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KTH — MSc Interactive Media Technology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: anglais ; prérequis : BSc CS/IT/media tech, IELTS ~6.5 (standard KTH, à revérifier)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non trouvé — vérifier la page programme KTH.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SEK 360 000 le programme 🟡 (2026) + 900 SEK de frais de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KTH Scholarship (waiver total, pas de frais de vie) 🟡 + SI : Colombie sur la liste des 34 pays 🟡 mais 3 000 h d'expérience pro exigées.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15 janv. 2027 🟡 via universityadmissions.se (portail ouvre ~16 oct. 2026) ; portail SI ~9–25 févr. 2027 🟡 (patron 2026).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la même candidature du 15 janv. couvre le successeur de Skövde SEGMA — mutualiser.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route suédoise à double levier de bourse.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https://www.kth.se/en/studies/master/interactive-media-technology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de Montréal (DIRO) — Maîtrise en informatique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: français (preuve exigée, seuil ⚫ — vérifier admission.umontreal.ca).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non trouvé — vérifier https://diro.umontreal.ca/programmes-cours/cycles-superieurs/maitrise-en-informatique/.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⚫ non trouvés — calculateur https://registraire.umontreal.ca/droits-de-scolarite/calculateur-des-droits-de-scolarite/.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 d'exemption UdeM (totale en maîtrise recherche) 🟡 + assistanats via directeur — démarcher dès l'automne 2026.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1er févr. 2027 🟡 pour l'automne ; prévoir 3-6 mois de CAQ + permis d'études.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Post-diplôme : PGWP jusqu'à 3 ans 🟡 — la meilleure porte migratoire du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voie migratoire la plus solide, coût maîtrisé via exemption.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https://admission.umontreal.ca/programmes/maitrise-en-informatique/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KAIST (GSCT) — MS in Culture Technology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master en Corée ; seuil d'anglais ⚫ non trouvé — vérifier admission.kaist.ac.kr.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non trouvé — vérifier https://ct.kaist.ac.kr/.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couverts — tous les admis internationaux : scolarité + ~400 000 KRW/mois 🟡 (secondaire, revérifier sur admission.kaist.ac.kr).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 KAIST automatique 🟡 ou GKS-G (complète + année de coréen, ~févr. 2027)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Fall 2027 — early ~déc. 2026, regular ~mars 2027 🟡 (secondaire).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financement automatique des admis, option Asie solide à confirmer sur source officielle.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https://ct.kaist.ac.kr/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HKUST (Guangzhou) — MPhil Computational Media and Arts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MPhil de recherche jusqu'à 2 ans, couvrant HCI + AR/VR + visualisation de données 🟡 ; seuil d'anglais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détail non trouvé — vérifier https://cma.hkust-gz.edu.cn/.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couverts par le studentship 🟡 (official-via-search).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Postgraduate Studentship intégral jusqu'à 2 ans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admissions au fil de l'eau — candidater tôt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meilleur hybride financé HCI+visu d'Asie ; la recherche accessibilité parcs y est l'argument de vente.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https://cma.hkust-gz.edu.cn/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UPF — MU Sistemas Cognitivos y Medios Interactivos (CSIM)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60 ECTS, 1 an, anglais 🟡 ; admission depuis toute discipline ; CV + lettre en anglais ; seuil IELTS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non détaillé — vérifier https://www.upf.edu/web/csim.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accès au titre colombien sans homologation ; étude d'équivalence UPF 218,15 € 🟡 (2026-27).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non-UE ⚫ (fixés par l'UPF) ; UE ≈ 1 162 €/60 ECTS 🟡 (2025-26).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ayudas internes « descuento sustancial » sans restriction de nationalité 🟡 (montant ⚫) ; Carolina (catalogue ⚫).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 — vérifier https://www.upf.edu/web/masters/calendari-de-preinscripcio.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porte espagnole flexible et potentiellement bon marché, mais trop de ⚫ à lever.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https://www.upf.edu/web/csim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Consortium IMLEX — Erasmus Mundus MSc Imaging and Light in Extended Reality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MSc conjoint 120 ECTS, 2 ans, anglais 🟡 ; UEF (coord.), KU Leuven, UJM Saint-Étienne + semestre à Toyohashi (Japon).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imagerie, photonique, XR — le point d'intersection « visu scientifique + XR » 🟡 ; détail ⚫ (site en 403 lors de la passe).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bachelor CS/EE/photonique/apparenté ; seuil d'anglais ⚫ non trouvé — vérifier https://www.imlex.org/how-to-apply/.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couverts par la bourse EM pour les mieux classés 🟡 ; coût hors bourse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 Erasmus Mundus complète (scolarité + allocation + voyage)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réouverture décembre 2026, clôture attendue ~mi/fin janvier 2027 🟡 (cycle précédent : 21/01/2026).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profil CS + Blender + maths = cible type ; inclut le Japon sans dépendre de MEXT. À ne pas manquer.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https://www.imlex.org/how-to-apply/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Wien — MSc Visual Computing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⚫ détails non trouvés — vérifier https://www.tuwien.at/en/studies.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non trouvé — vérifier la page du programme.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⚫ non trouvés.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726,72 €/semestre 🟡 (taux 2025-26) ≈ 2 900 € le diplôme entier.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coût si bas que Colfuturo suffit 🟡 ; bourses OeAD ⚫ non vérifiées.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proj. ~juil.–oct. 2027 🟡 (WS 2026/27 : 06/07–31/10/2026).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meilleur rapport frais/qualité du domaine visu — la voie auto-financée réaliste.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https://www.tuwien.at/en/studies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Glasgow School of Art + Univ. of Glasgow — MSc Medical Visualisation &amp; Human…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12 mois, anglais ; 3D/VR + salle de dissection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détail non trouvé — vérifier https://www.gsa.ac.uk/postgraduate-degrees/medical-visualisation-human-anatomy.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accepte les profils science OU art avec preuve 3D (Blender pertinent) 🟡 ; exigences de portfolio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⚫ non trouvés — vérifier https://www.gsa.ac.uk.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Chevening-éligible 🟡 (choix rare et peu concurrentiel) ; candidature Chevening ~août–oct./nov. 2026.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⚫ 2027/28 non publié (patron UK : oct. 2026–printemps 2027).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la fusion anatomie + 3D la plus littérale du dossier, uniquement viable via Chevening.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https://www.gsa.ac.uk/postgraduate-degrees/medical-visualisation-human-anatomy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URJC — MU Informática Gráfica, Juegos y Realidad Virtual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en espagnol — pas d'IELTS requis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unit Blender/3D/mocap et ingénierie 🟡 ; plus orienté divertissement que médical.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⚫ détail non trouvé ; contact : master.infgrafica@urjc.es.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~5 044 €/60 ECTS 🟡 (precios Madrid — à vérifier, registre 🔴 sur les prix/crédit).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(catalogue 2027-28 ⚫) + Colfuturo.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⚫ non trouvée (admission URJC ~févr.–juil.).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option hispanophone sans barrière d'anglais, coût moyen, moins alignée santé.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https://www.urjc.es/estudios/master/908-informatica-grafica-juegos-y-realidad-virtual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Consortium RE_PLAY — Erasmus Mundus MA in GAMES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MA 120 ECTS, 2 ans, anglais 🟡 ; parcours Lusófona Lisbonne (S1) → LUCA School of Arts (S2) → Aalto (S3), thèse S4.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plan de cours à vérifier — MA orienté design/culture, pas ingénierie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bachelor game design/arts/informatique ; IELTS 6.0 / TOEFL 80 🟡 (secondaire) — barre d'anglais basse, CS accepté.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couverts par la bourse EM pour les mieux classés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 Erasmus Mundus complète 24 mois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publiée — patron : ouverture oct. 2026, clôture mi-janv. 2027 🟡 ; surveiller replaymasters.eu dès sept. 2026.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la voie serious games financée n°1, sous réserve du contenu réel.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https://www.replaymasters.eu/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CNAM-ENJMIN — Master JMIN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master public ; concours obligatoire en français 🟡 (sujet ~déc. 2026, dépôt ~fin janv. 2027 proj.).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spécialités dont ergonomie/UX = l'angle serious games santé 🟡 ; détail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concours ; seuil de français ⚫ non trouvé — vérifier enjmin.cnam.fr.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⚫ non trouvés pour le Cnam (a priori droits nationaux 3 941 €/an 🟡, 2026-27).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Eiffel théorique (établissement public) mais pratique ⚫ ; Colfuturo.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proj. dépôt ~fin janv. 2027 🟡 (2026 : 23/01).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l'école publique de référence du jeu vidéo français, si le français tient au concours.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https://enjmin.cnam.fr/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Aalto University — Game Design and Development (MSc/MA)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MSc/MA finlandais, anglais ; détail du pensum ⚫ — vérifier la page Aalto.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⚫ non détaillés dans le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~15 000 €/an 🟡 (standard Aalto, non vérifié pour ce programme).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waivers Cat. A 100 % / Cat. B + Finland Scholarship (waiver + 5 000 €)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7 déc. 2026 – 5 janv. 2027 🟡 — cycle 2027 confirmé par une passe, une des seules vraies dates du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fenêtre certaine + bourses internes crédibles = candidature à verrouiller tôt.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https://www.aalto.fi/en/study-options/game-design-and-development-master-of-science-technology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University of Copenhagen — MSc Games (Design/Technology)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MSc, deux pistes (Design/Technology) ; détail ⚫ — vérifier en.itu.dk.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⚫ — voir Admission-requirements-Games sur en.itu.dk.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⚫ montant non trouvé — vérifier https://en.itu.dk/Programmes/MSc-Programmes/Applying-to-a-MSc-programme/Non-EU-EOES.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Danish State Scholarship — 3-4 par an, attribution automatique 🟡 (secondaire).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🔴 ~1er mars vs 15 mars 2027 (sources en conflit) — planifier sur le 1er mars par prudence.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peu de bourses mais automatiques ; à garder si le calendrier se confirme.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https://en.itu.dk/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Univ. of Skövde — SEGMA → successeur « Game Development 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: le master SEGMA « Serious Games » est remplacé dès l'automne 2026 par un successeur au contenu ⚫ — vérifier https://www.his.se.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⚫ inconnu pour le successeur — condition préalable à toute candidature.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⚫ non trouvés.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ancien programme ~12 421 € 🟡 (secondaire).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SI Scholarship — la Colombie est éligible 🟡 (3 000 h d'expérience pro exigées).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15 janv. 2027 🟡 via le portail suédois — la même candidature couvre KTH : mutualiser.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option d'appoint suédoise, uniquement après vérification du contenu du successeur.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https://www.his.se/en/education/game-development/serious-games-masters-programme-segma/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 (ETSEIB) + Institut Guttmann — MU Neuroingeniería y Rehabilitación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90 ECTS (1,5 an), présentiel ; langue probable castillan/anglais mixte ⚫ à confirmer.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inclut l'UE « Virtual reality and serious games » 🟡 ; reste du plan ⚫ — voir le PDF officiel UPC.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ingénierie/physique/maths/informatique/médecine/bio/psycho ; anglais B2.2 ; pas de portfolio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≈2 490 € UE · ≈9 496 € non-UE 🟡 (fiche 2025-26).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(présence au catalogue 2027-28 ⚫ — croiser dès l'ouverture) ; Colfuturo.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 — vérifier la page d'accès ETSEIB.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le programme qui fusionne TOUT (serious games + réhab + biomécanique + accessibilité), adossé à un hôpital de référence ; point faible : financement non structurel.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https://etseib.upc.edu/es/futuros-estudiantes/que-estudios/master-universitario-en-neuroingenieria-y-rehabilitacion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Paris Cité — Master eHealth (France)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 (M1+M2), enseignement en anglais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bioingénierie à l'interface biomédical/ingénieur ; stage 2-4 mois M1 + 5 mois M2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Licence scientifique, ouvert à informatique, maths, physique, ingénierie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droits différenciés non confirmés pour ce parcours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Eiffel via établissement ; chaire IA en Santé Paris Cité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— Mon Master ~févr.–mars ; Études en France oct.–déc.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bon fit CS, écosystème IA-santé fort ; confirmer frais + mise à niveau bio.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Paris — DS4Health (France)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Digital Skills for Health Transformation, cursus ingénierie de la santé.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montant dans PDF officiel non extrait ⚫ (paiement dû ~10 sept.).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(procédure IP Paris).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bourses IP Paris ; Eiffel via établissement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attendus : profil quantitatif/CS (à confirmer).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fit CS ; extraire frais et calendrier du PDF officiel avant de candidater.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de Bordeaux — M2 Public Health Data Science (France)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intégré au programme Digital Public Health, entièrement en anglais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épidémiologie, statistiques, informatique, cas réels Bordeaux Population Health.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orienté data science/stats/CS ; pas de médecine exigée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~3 941 €/an (catégorie internationale, réf. 2025-26)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bourses programme DPH ; Eiffel via établissement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très aligné impact + data science ; angle mémoire accessibilité naturel.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UCL — MSc Health Data Science (UK)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en science des données de santé, cursus quantitatif.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£32 100/an (réf. ~2025-26, secondaire)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admissions au fil de l'eau, clôture printemps/été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Chevening (si expérience) ; bourses internes UCL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quantitatif/CS accepté.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fit CS fort ; barrière = frais élevés + Chevening exige de l'expérience.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MHEDAS — consortium catalan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interuniversitaire Health Data Science (URV+UPC+UB+UAB+UGA).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recargo catalan si composante UPC (~102,52 €/crédit)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 (via URV).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(catalogue ⚫) ; réseau BIB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data science/CS attendu.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fit data science santé ; à croiser au catalogue Fundación Carolina.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UNIA (US+UGR) — Máster IA aplicada a Ciencias de la Salud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andalou en IA appliquée aux sciences de la santé.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prix public andalou (bas)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préinscription reportée 8–15 sept. 2026 (pour 2026-27)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(catalogue ⚫)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technologique/CS attendu.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coût public bas, fit IA santé ; vérifier calendrier et Carolina 2027.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Paris Cité — Master NCIA (France)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 (M1+M2), interdisciplinaire ; langue anglais/français à vérifier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M1 tronc commun sciences cognitives ; M2 neuro comp + IA + stage recherche.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M1 = licence Bio/Maths/Physique OU Informatique ; M2 cursus ingénieur/médecine accepté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mise à niveau bio/médicale exigée → un des meilleurs fits du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droits différenciés nationaux à confirmer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Eiffel via établissement ; bourses PSL/ENS possibles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via cog-sup.fr (M2) / Mon Master (M1).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Paris-Saclay — M2 CNN (France)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(1 an) en anglais 🟡 ; labo NeuroPSI.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S1 = 6 UE + projet ; S2 = stage 5-6 mois ; inclut explicitement les BCI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Life Sciences, Informatique, Maths, Physique, Ingénierie ; M1 (240 ECTS).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Sélectif : CGPA ≥ 3,5/4 fortement recommandé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0–500 € (Mastersportal) — à confirmer impérativement 🔴.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IDEX / Graduate School Neurosciences ; Eiffel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neuroengineering + BCI + mouvement = pont le plus direct avec la danse.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BCCN Berlin — MSc Computational Neuroscience (Allemagne)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ans, 100 % anglais, gratuit (~250–350 €/sem)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HU/TU/Charité/FU/Potsdam/Max Delbrück.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proj. ~15 mars 2027 (patron 15 mars)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gratuité + DAAD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fit CS attendu (vérifier liste exacte + éventuel GRE).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coût quasi nul, environnement de recherche fort ; fit CS-friendly.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de Tübingen — MSc Neural Information Processing (Allemagne)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Anglais, gratuit (public) 🟡 ; environnement Max Planck (Cyber Valley).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proj. ~31 mars 2027 (patron 31 mars)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gratuité + DAAD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fit ML/neuro fort attendu.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gratuit (public)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fit ML/neuro solide, coût quasi nul ; ne pas confondre avec le MSc Bioinformatics (risque).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UPM — MUNEUROTEC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semestrielle, toutes matières en anglais 🟡 ; centre ETSIT (Telecom).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Neuroscience, Neurodevices, AI in Neurotechnology, Neurosignals, Neuroprosthetics.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recommandé ingénierie biomédicale ; admet informatique/télécom (confirmer nivelación)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prix public master UPM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★ au catalogue Fundación Carolina (fiches 6374/6155)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seul programme neuro/bioinfo explicitement finançable par Carolina.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 — Neuroengineering and Rehabilitation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ans, présentiel ; requiert B2 anglais (docencia en anglais à vérifier)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neuro-ingénierie, rehabilitation, signaux biomédicaux, technologie assistive.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ingénierie, physique, maths, INFORMATIQUE, médecine, biologie ou psychologie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~102,52 €/crédit non-UE ⇒ ~12 000 € les 120 ECTS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(catalogue ⚫) + Colfuturo.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★ angle parfait — rehab + biomécanique + accessibilité + danse ; financement non structurel.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 — Máster DATCOM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ECTS (1 an), espagnol (matières en anglais à vérifier)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master informatique/données (HPC + big data), UE Neurociencia Computacional y Neuroingeniería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champ Ingénierie et Architecture ; préinscription via DUA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MUY ALTA (master CS, pas de bio exigée).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prix public andalou (bas)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coût bas + vie à Grenade favorable ; Carolina (catalogue ⚫).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voie la plus sans friction de CS pur vers le monde neuro ; très employable.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Lyon 1 — Master Bio-informatique (France)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Bioinfo@Lyon ; atout réseau INSA Lyon.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droits différenciés nationaux à confirmer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proj. Mon Master ~févr.–mars 2027 (patron 17 févr.–16 mars 2026)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Eiffel via établissement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bioinfo/CS ; barrière relativement basse.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voie française accessible, écosystème solide ; éligible Eiffel.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Université de Montréal — Maîtrise en bio-informatique (Québec)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(~2 ans, avec mémoire), en français (atout : candidate francophone)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quantitatif/informatique/biologie ; CS voie classique (à confirmer)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exemption auto Niv. A 13 340,40 $CA/an, Niv. B 6 357,60 $CA/an (réf. 2025-26)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(patron « 1er sept. » ; dépôts intl ferment ~févr.–mars).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Post-diplôme : PGWP + PEQ = le plus favorable à une installation durable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francophone, coût net potentiellement le plus bas, meilleure voie migratoire ; angle accessibilité plus faible.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 Berlin — MSc Bioinformatics (Allemagne)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 anglais, gratuit (public)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 (vérifier page programme officielle).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gratuité + DAAD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éligibilité CS + prérequis bio à vérifier.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gratuit (public)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fit CS-friendly parmi les plus sûrs en Allemagne ; coût quasi nul.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157</a:t>
            </a:fld>
            <a:endParaRPr 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UPF + UB — Bioinformatics for Health Sciences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 bioinformatique pour les sciences de la santé.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« engineering studies » explicitement admis → barrière basse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~5 750 €/an (terceros, réf. 2024-25)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⚫ non trouvée (préinscription ~nov./janv.).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(catalogue ⚫) ; Colfuturo ; ICETEX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admission accessible pour une ingénieure ; croiser le catalogue Carolina.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158</a:t>
            </a:fld>
            <a:endParaRPr 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UAM — Bioinformática y Biología Computacional (Espagne)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Máster en bioinformatique et biologie computationnelle.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« Tecnológico » explicitement admis → barrière basse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prix public Madrid non trouvé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non trouvée.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Carolina (catalogue ⚫)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voie espagnole accessible pour une ingénieure des systèmes ; vérifier frais + Carolina.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159</a:t>
            </a:fld>
            <a:endParaRPr 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QuBiD — EMJM Quantitative Biodiversity (UE)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6 pays (Varsovie/Charles/Sorbonne/Copenhague/Milan/Tartu).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 + IA + data science ; bourse EM complète 1 400 €/mois, aucune expérience requise.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couverts par la bourse EM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nouveau programme, 1re cohorte incertaine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 EM complète 🟡 (priorité n°1 pour jeune diplômée).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vérifier l'éligibilité d'un profil CS sans biologie et l'existence d'une cohorte 2027.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160</a:t>
            </a:fld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KTH — MSc Medical Engineering, Biomechanics (stream CS)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Durée/langue : 2 ans (120 ECTS), anglais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CS explicitement ouvert aux profils informatiques → meilleure porte.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licence pertinente + maths ; portfolio NON ; IELTS/TOEFL.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SEK 360 000 total (~31-33 k€) 🟡, couverts si KTH Scholarship.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★ KTH Scholarship (exon., 1-2 ans, sans expérience) 🟡 ; SISGP inéligible probable 🔴.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~15 janv. 2027 (universityadmissions.se)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combinaison fit + financement sans barrière la plus propre du dossier.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161</a:t>
            </a:fld>
            <a:endParaRPr 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Paris-Saclay — Master IDSMH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 (M1+M2) ; M2 « Engineering and human movement sciences » en anglais ; langue par année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modélisation musculo-squelettique, IA du mouvement, robotique d'assistance, ergonomie, data science.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ouvert STAPS + sciences ET ingénierie/data science ; portfolio NON.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depuis ingénierie des systèmes : FORTE — meilleur pont du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~3 770 €/an (2026-27) 🟡 ; Eiffel éligible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(campagne + Eiffel interne ~nov.-déc. 2026).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fusionne CS/IA + biomécanique de danseuse + mocap. En tête.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162</a:t>
            </a:fld>
            <a:endParaRPr lang="en-US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Nantes — Master U-MOVE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M1/M2 ; intitulé anglais → au moins partiellement en anglais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biomécanique, physiologie, neurophysiologie, ingénierie du mouvement, data science.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sciences/ingénierie/STAPS ; portfolio NON ; accessibilité FORTE.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~3 770 €/an 🟡 ; Eiffel (Nantes porte les candidatures)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jumeau de Paris-Saclay IDSMH, même excellent fit. Cible prioritaire.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163</a:t>
            </a:fld>
            <a:endParaRPr 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Poitiers — Master Ingénierie biomécanique (Pprime)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 ; français probable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biomécanique lésionnelle, analyse/simulation du mouvement, biomécanique du handicap et de la réhabilitation.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mécanique/ingénierie (vérifier passerelle) ; portfolio NON.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Candidatures internationales via Campus France.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~3 770 €/an 🟡 ; Eiffel 🟡 ; deadline 2027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le volet handicap/réhab résonne avec la recherche accessibilité (Kennedy, Bogotá).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164</a:t>
            </a:fld>
            <a:endParaRPr lang="en-US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Aalborg — MSc Biomechanical Engineering (AnyBody)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ans, anglais, pédagogie PBL (signature AAU)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variante Biomechanical Eng attend une licence d'ingénierie = sa route ; portfolio NON.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Labos : ★ AnyBody Modeling System + Prof. Rasmussen — simulation musculo-squelettique de classe mondiale.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~DKK 57 850/an (~7 745 €/an) 🟡 — le moins cher du dossier.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bourses AAU/gouv. danois limitées 🟡 ; deadline proj. ~15 janv. 2027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meilleur rapport labo/coût ; AnyBody = aimant à mémoire pour son profil.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165</a:t>
            </a:fld>
            <a:endParaRPr 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Twente — MSc BME, spécialisation Biorobotics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ans, anglais ; spécialisation programmation-lourde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numérique/CS accueilli plus facilement que les ME purs ; portfolio NON.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~14 250 €/an (2026) 🟡 — plus abordable que les autres Pays-Bas.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University Twente Scholarships (3 000–22 000 €/an)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proj. ~1 mai 2027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biorobotique + code = fit CS solide côté mouvement/assistance.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166</a:t>
            </a:fld>
            <a:endParaRPr 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 Nanterre — Contrôle moteur (recherche)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M1/M2 ; orientation recherche/contrôle moteur.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sciences du sport/mouvement ; portfolio NON.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officielle univ-nanterre.fr à confirmer (trace via emagister.fr).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~3 770 €/an 🟡 ; Eiffel 🟡 ; deadline 2027 ⚫.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: contrôle moteur/neurophysiologie → priorité « comprendre le cerveau ».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backup recherche du bloc FR ; vérifier fiche officielle et langue.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167</a:t>
            </a:fld>
            <a:endParaRPr lang="en-US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Grenoble MoSIG — spéc. Computer Graphics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2 ans, ANGLAIS (programme international) 🟡 — atout IELTS.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tronc CS + 3D Graphics / Computer Graphics II ; projet recherche M2 (INRIA/LJK, Maverick/Anima).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licence en INFORMATIQUE solide ; portfolio NON — master d'informatique.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: TRÈS FORTE (master CS pur).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~3 770 €/an 🟡 ; Eiffel (Maths &amp; numérique)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; verdict : pont ingénieure→TD/pipeline sans book, cible créative-technique n°1 FR.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168</a:t>
            </a:fld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ENJMIN (Cnam) — parcours Programmation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public Jeux et médias interactifs numériques, parcours Programmation.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Voie programmation → pas de portfolio artistique.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non-UE ⚫ non trouvé ; éligibilité Eiffel à vérifier.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⚫ non publiée.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(Cnam) → coût potentiellement bas, à confirmer.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option publique française TD/jeux ; confirmer frais et Eiffel avant.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169</a:t>
            </a:fld>
            <a:endParaRPr 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Utah MEAE — track Technical 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MEAE avec track Technical Art : rigging, shaders, tools, pipeline.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technique accepté (pas de book d'art).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~US$51 838 (1re année, secondaire) 🟡 — élevés.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assistantships non garantis 🔴 → risque.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internationale ⚫ à vérifier.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TD pur et fit technique, mais coût/financement = point faible majeur.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170</a:t>
            </a:fld>
            <a:endParaRPr lang="en-US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Texas A&amp;M — MSc in Visualization (M.S.)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M.S. technique/recherche — PAS le MFA (studio art = barrière portfolio).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technique accepté.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élevés ⚫ non chiffré.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assistantships pour beaucoup (pas tous), 2e semestre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15 janv. priorité financement — proj. 2027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prendre explicitement le M.S. de Visualization, éviter le MFA.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171</a:t>
            </a:fld>
            <a:endParaRPr lang="en-US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U-tad — Computación Gráfica, RV y Simulación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ECTS, espagnol, présentiel (soirs) ou online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Itinéraires Simulación (VFX/CFX, GPU, data viz) et Realidad Virtual.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diplômés ingénierie/informatique/maths/physique ; ★ SIN portfolio artístico.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9 900 € (privé) 🟡 — cher.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convenio historique Fundación Carolina (à confirmer au catalogue) ; Colfuturo 25 %.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matrícula ~1 mai-30 sept. (réf. 2026-27)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bon fit technique mais privé cher → seulement avec Carolina/bourse confirmée.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172</a:t>
            </a:fld>
            <a:endParaRPr 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Bournemouth NCCA — MSc Computer Animation and VFX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1 an, anglais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maths &amp; programmation pour CG, animation, VFX, rendu, unités pipeline/outils.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NCCA = premier vivier UK des studios (Framestore, DNEG, MPC).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2:2 en matière numérique (Maths/CS/Physique/Ingénierie) → son diplôme qualifie.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AUCUN PORTFOLIO REQUIS (explicite) ; IELTS 6.5.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⚫ (~£19-24k non confirmé) ; bourses BU limitées 🔴 ; deadline rolling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voie technique VFX la plus explicitement « sans book » ; frais = point faible.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173</a:t>
            </a:fld>
            <a:endParaRPr lang="en-US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Trinity College Dublin — MSc CS Augmented &amp; Virtual Reality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1 an temps plein, anglais 🟡 ; groupe GV2.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graphique 3D, vision, IA, médias interactifs.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2.1 en informatique ; C/C++/Java exigés → son diplôme CS convient ; pas de portfolio.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🔴 ~21 500 vs 26 989 €/an (divergent) ; bourses TCD limitées 🔴.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Débouchés : NVIDIA, Unity, Huawei, The Foundry, Tencent ; Irlande 2 ans stay-back.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master CS pur très accessible ; frais/financement = point faible.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174</a:t>
            </a:fld>
            <a:endParaRPr lang="en-US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University of Bath — CAMERA / CDE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MSc taught 1 an (ou doctorat via CDE), anglais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vision, graphique, motion-capture, HCI, biomécanique &amp; santé.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= centre EPSRC avec 2 studios mocap + analyse de la marche → pont Domaine 1↔3.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profil numérique/CS ; pas de portfolio (voies CS) ; IELTS.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⚫ (~£26-29k non confirmé) ; financement CDE historiquement doctoral/UK 🔴.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rolling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sa meilleure cible « fusion » — MAIS confirmer un MSc taught finançable avant d'y croire.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175</a:t>
            </a:fld>
            <a:endParaRPr 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Utrecht — MSc Game and Media Technology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technique : graphique, vision, simulation ; sans portfolio.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~25 306 €/an (2026-27)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Utrecht Excellence / Holland (limitées) 🔴 → risque.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: proj. ~1 févr./1 avr. 2027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 : forte (voies techniques).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bon fit technique mais financement à sécuriser.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176</a:t>
            </a:fld>
            <a:endParaRPr lang="en-US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URJC — Informática Gráfica, Juegos y RV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ECTS, 1 an, présentiel Móstoles, espagnol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Gráficos 3D, RV &amp; Interacción, Animación por Computador, Rendering Avanzado, GPU/Tiempo Real.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: grado universitario ; ★ SIN portfolio artístico — critère technique.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~84,07 €/crédit → ~5 044 €/60 ECTS 🟡 ; officiel → Carolina/Colfuturo/ICETEX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 : groupe GMRV (&gt;20 ans) → voie doctorat/TFM.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⚫ (préinscr. ~printemps).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programme espagnol où le profil ingénieure est une fortaleza ; finançable Carolina.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177</a:t>
            </a:fld>
            <a:endParaRPr lang="en-US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UPC — MIRI, Computer Graphics &amp; VR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ECTS / 2 ans, ANGLAIS (B2) 🟡 ; groupe ViRVIG.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Pensum : computer graphics état de l'art, rendu interactif, Computer Animation, VR/AR ; SIN portfolio.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profil ML/IA ajoute ; accessibilité forte.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: ~5 400 €/an → ~10 800 € les 2 ans 🟡 (UPC a réduit les tasas non-UE).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: officiel → Carolina/Colfuturo (2 ans encaissent bien le crédit)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2027 : proj. févr.-mai 2027 🟡.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voie recherche graphique en anglais ; tremplin doctorat/R&amp;D.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178</a:t>
            </a:fld>
            <a:endParaRPr lang="en-US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Conférences et communautés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(Society for Computational Economics) · Social Simulation Conference (ESSA).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ASSA/AEA · SAEe (Espagne, déc.) · LACEA-LAMES (Amérique latine).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es Gratis (nadaesgratis.es) — comment pense le gremio espagnol qui l'évaluerait · Foco Económico · VoxEU/CEPR.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179</a:t>
            </a:fld>
            <a:endParaRPr 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MOOCs et autoformation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QuantEcon (quantecon.org) · Complexity Explorer « Intro to Agent-Based Modeling » (Santa Fe).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Econ en espagnol · MITx 14.310x (statistique appliquée).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180</a:t>
            </a:fld>
            <a:endParaRPr 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Norman — The Design of Everyday Things (éd. rév. 2013 ; ES : La psicología de los objetos cotidianos)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Rogers &amp; Preece — Interaction Design (6e éd. ~2023)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Lazar et al. — Research Methods in HCI (2e éd. 2017)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Shneiderman — Designing the User Interface (6e éd. 2016)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Horton &amp; Quesenbery — A Web for Everyone (2014)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 et al. — About Face (4e éd. 2014)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Holmes — Mismatch (2018) — design inclusif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— heuristiques d'usabilité [ES]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Fitts (1954) — paper fondateur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Wobbrock et al. — « Ability-Based Design » (CACM 2018)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CHI, UIST, ASSETS, CSCW, IUI (human-AI), IHM/AFIHM, Interacción/AIPO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TOCHI, IJHCS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Interaction Design — UC San Diego/Scott Klemmer (Coursera, sous-titres ES) [FR+ES]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HCI Georgia Tech (edX) [EN]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181</a:t>
            </a:fld>
            <a:endParaRPr 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HCI / INTERACTION HUMAIN-MACHINE (DONT ACCESSIBILITÉ)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: W3C-WAI / WCAG (partiellement en français) [FR] ; NN/g [FR+EN+ES]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182</a:t>
            </a:fld>
            <a:endParaRPr 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Munzner — Visualization Analysis &amp; Design (2014)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Tufte — The Visual Display of Quantitative Information (1983/2001)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 — Fundamentals of Data Visualization (2019, gratuit : https://clauswilke.com/dataviz/)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Preim &amp; Botha — Visual Computing for Medicine (2e éd. 2013) [FR+EN]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 — Information Visualization: Perception for Design (4e éd. 2021)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Akenine-Möller et al. — Real-Time Rendering (4e éd. 2018)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Bostock et al. — « D3 » (IEEE TVCG 2011)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Heer &amp; Shneiderman — « Interactive Dynamics for Visual Analysis » (2012)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IEEE VIS, EuroVis, SIGGRAPH ; revue : IEEE TVCG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à suivre : AVIZ (Inria Saclay)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Coursera « Data Visualization » (UIUC/UW)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vidéo de Munzner (UBC, YouTube)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Tutoriels 3D Slicer/VTK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+ The Pudding [FR]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183</a:t>
            </a:fld>
            <a:endParaRPr lang="en-US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VISUALISATION SCIENTIFIQUE ET MÉDICALE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3Blue1Brown, Nucleus Medical Media, Sebastian Lague [EN]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184</a:t>
            </a:fld>
            <a:endParaRPr lang="en-US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 (1/2)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Salen &amp; Zimmerman — Rules of Play (2003/2004)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Schell — The Art of Game Design (3e éd. 2019) [FR+EN+ES]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&amp; Chen — Serious Games: Games That Educate, Train, and Inform (2005/2006) [FR+ES]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 — The Gamification of Learning and Instruction (2012)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Dörner et al. (éds.) — Serious Games: Foundations, Concepts and Practice (2016)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McGonigal — Reality Is Broken (2011)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Elias, Garfield &amp; Gutschera — Characteristics of Games (2012)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JMIR Serious Games (accès libre), Games for Health Journal, Simulation &amp; Gaming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CHI PLAY (le pont vers HCI), FDG, DiGRA, IEEE CoG, Games for Health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&amp; Serious Game Festival (Bilbao) — plus grand événement hispanophone [ES]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CalArts Game Design (Coursera)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OCW CMS.611 [EN]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« Serious Gaming » (Erasmus Univ. Rotterdam, Coursera — dispo 2026 à vérifier) [FR]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GDC Talks, Game Maker's Toolkit, Extra Credits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185</a:t>
            </a:fld>
            <a:endParaRPr lang="en-US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SERIOUS GAMES (SANTÉ, RÉHABILITATION, ÉDUCATION)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 (2/2)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Game Jam (janvier)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186</a:t>
            </a:fld>
            <a:endParaRPr 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IA EN MÉDECINE ET SANTÉ NUMÉRIQUE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Topol, E. — Deep Medicine (2019).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Bohr &amp; Memarzadeh — Artificial Intelligence in Healthcare (2020).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6.S897 / HST.956 — Machine Learning for Healthcare (OCW, avancé).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Steyerberg, E. — Clinical Prediction Models (2019).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Shortliffe &amp; Cimino — Biomedical Informatics (2021).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Nature Medicine, The Lancet Digital Health, npj Digital Medicine, J. Biomedical Informatics.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CHIL, MLHC/ML4H (NeurIPS), MICCAI.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AI for Medicine (DeepLearning.AI) ; MIT 6.S897 (OCW) ; AI in Healthcare (Stanford/Coursera).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187</a:t>
            </a:fld>
            <a:endParaRPr lang="en-US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NEUROSCIENCES COMPUTATIONNELLES ET BCI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 &amp; Abbott — Theoretical Neuroscience (2001).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Gerstner et al. — Neuronal Dynamics (2014, gratuit).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Kandel et al. — Principles of Neural Science.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Rieke et al. — Spikes ; Sporns — Networks of the Brain.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Sutton &amp; Barto — Reinforcement Learning (gratuit).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Cosyne, NeurIPS, Bernstein Conference, IEEE EMBS/NER, CNS.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Neuromatch Academy ; Computational Neuroscience (UW/Coursera) ; cours EPFL Gerstner (edX).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188</a:t>
            </a:fld>
            <a:endParaRPr lang="en-US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BIOINFORMATIQUE / BIOLOGIE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Durbin, Eddy, Krogh &amp; Mitchison — Biological Sequence Analysis (1998).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Compeau &amp; Pevzner — Bioinformatics Algorithms.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Pevsner — Bioinformatics and Functional Genomics.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Zvelebil &amp; Baum — Understanding Bioinformatics.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Ewens &amp; Grant — Statistical Methods in Bioinformatics.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Revues/conf. : Bioinformatics (Oxford), Nature Methods, Genome Biology, PLOS Comp Biology ; ISMB, RECOMB, ECCB, JOBIM.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Bioinformatics Specialization (UC San Diego) ; Rosalind ; EMBL-EBI training.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189</a:t>
            </a:fld>
            <a:endParaRPr lang="en-US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BIOMÉCANIQUE ET TECHNOLOGIE DU MOUVEMENT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D., Biomechanics and Motor Control of Human Movement, Wiley (amazon.com/dp/0470398183).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Latash &amp; Zatsiorsky, Biomechanics and Motor Control: Defining Central Concepts, Elsevier 2016.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Latash, Fundamentals of Motor Control ; Shadmehr &amp; Wise, Computational Neurobiology of Reaching and Pointing.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Nigg &amp; Herzog, Biomechanics of the Musculo-skeletal System ; Zatsiorsky, Kinetics of Human Motion.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et al., Research Methods in Biomechanics ; Perry, Gait Analysis ; Nordin &amp; Frankel, Basic Biomechanics.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J. of Biomechanics, JNER, IEEE TNSRE, Gait &amp; Posture, J. Applied Biomechanics.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ISB, ISPGR, IEEE EMBC, ICORR, RehabWeek, GCMAS, ESB, Société de Biomécanique (biomecanique.org).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OpenSim (Stanford), Coursera Biomechanics, edX contrôle moteur, FUN-MOOC.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190</a:t>
            </a:fld>
            <a:endParaRPr lang="en-US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ANIMATION 3D ORIENTÉE TECHNICAL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 Handbook of Visual Effects.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Parent, Computer Animation: Algorithms and Techniques.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Dunlop, Production Pipeline Fundamentals for Film and Games.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Rigging ; Palamar, Mastering Autodesk Maya.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OpenUSD (Pixar), docs Houdini, Maya Python API.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Pixar-in-a-Box (Khan Academy), SideFX Houdini learning (gratuit).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Conférences : SIGGRAPH / SIGGRAPH Asia (3 passes 🟢), FMX, VIEW Conference, Eurographics.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191</a:t>
            </a:fld>
            <a:endParaRPr lang="en-US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VFX ET R&amp;D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Pharr, Jakob &amp; Humphreys, Physically Based Rendering (pbr-book.org, gratuit, 3 passes 🟢).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Akenine-Möller et al., Real-Time Rendering.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Bridson, Fluid Simulation for Computer Graphics.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Gregory, Game Engine Architecture.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SIGGRAPH proceedings, ACM TOG, Eurographics, Computer Graphics Forum, HPG.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MOOC : Stanford CS348/CS148, rendu TU Wien (YouTube), Ten Minute Physics (Müller).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192</a:t>
            </a:fld>
            <a:endParaRPr lang="en-US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 · ÉCONOMIE QUANTITATIVE / COMPUTATIONNELLE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Bibliographie intégrale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Econ, The Economy 2.0 — gratuit, en espagnol : https://www.core-econ.org/the-economy/es/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Sargent &amp; Stachurski, Quantitative Economics with Python — https://quantecon.org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Epstein &amp; Axtell, Growing Artificial Societies, MIT Press, 1996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Angrist &amp; Pischke, Mostly Harmless Econometrics, Princeton UP, 2009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Tesfatsion &amp; Judd (dir.), Handbook of Computational Economics vol. 2 : ACE, North-Holland, 2006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Wooldridge, économétrie d'entrée · Judd, Numerical Methods in Economics (avancé)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Railsback &amp; Grimm (méthodes ABM) · Rodrik, Economics Rules · Piketty / Banerjee-Duflo (inégalités)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&amp; Foley, « The economy needs agent-based modelling », Nature 460 (2009) 🟢 — https://www.nature.com/articles/460685a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Axtell &amp; Farmer, survey ABM, JEL — référence exacte ⚫ non trouvée — vérifier https://www.aeaweb.org/journals/jel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Chetty et al., Opportunity Atlas (QJE/NBER)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Revues : JASSS (open access) · Computational Economics · JEDC · Quantitative Economics · Journal of Urban Economics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193</a:t>
            </a:fld>
            <a:endParaRPr lang="en-US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D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des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111556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633 URLs consultées le 2026-07-26, listées intégralement dans masters-research/sources.md (dépôt git), groupées par passe de recherche.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consolidés avec sources par fait : phase-1-dossier.md · phase-2-dossier.md · phase-3-dossier.md · phase-4-dossier.md.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bruts par langue : masters-research/raw/phase-{1..4}-{FR,EN,ES}.md.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: aucune passe n’a pu lire directement la plupart des pages officielles (403) — les URL citées sont le point de départ obligatoire de toute vérification.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194</Slides>
  <Notes>194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194</vt:i4>
      </vt:variant>
    </vt:vector>
  </HeadingPairs>
  <TitlesOfParts>
    <vt:vector size="1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2026-07-26T06:05:36Z</dcterms:created>
  <dcterms:modified xsi:type="dcterms:W3CDTF">2026-07-26T06:05:36Z</dcterms:modified>
</cp:coreProperties>
</file>